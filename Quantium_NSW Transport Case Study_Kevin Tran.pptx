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263" r:id="rId3"/>
    <p:sldId id="264" r:id="rId4"/>
    <p:sldId id="258" r:id="rId5"/>
    <p:sldId id="259" r:id="rId6"/>
    <p:sldId id="260" r:id="rId7"/>
  </p:sldIdLst>
  <p:sldSz cx="9144000" cy="6858000" type="screen4x3"/>
  <p:notesSz cx="6781800" cy="99187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10"/>
    <a:srgbClr val="FFD100"/>
    <a:srgbClr val="FFF60A"/>
    <a:srgbClr val="FFCB0A"/>
    <a:srgbClr val="FFE993"/>
    <a:srgbClr val="03457A"/>
    <a:srgbClr val="045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61"/>
    <p:restoredTop sz="96271"/>
  </p:normalViewPr>
  <p:slideViewPr>
    <p:cSldViewPr>
      <p:cViewPr varScale="1">
        <p:scale>
          <a:sx n="126" d="100"/>
          <a:sy n="126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1248" y="1554"/>
      </p:cViewPr>
      <p:guideLst>
        <p:guide orient="horz" pos="3124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686BF75-5637-8F21-F515-6F6578559C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 alt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C5B4F0F-370F-F511-8A36-38C0EFEB51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AU" alt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1739811F-329A-E7D4-A479-50EE8094B74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AU" alt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63EF2141-DAFC-CB1B-97A5-F40AFBE2F14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23400"/>
            <a:ext cx="293846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8DD61A0-C925-C248-AC96-04D4D185EAF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BF0E2EA-BC96-54B5-40FE-DE7F7D4D86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1F8DCE7-ED84-8841-E22F-4C142C0CB04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9A9F5BDE-84E8-3BEF-67AD-D25406F14A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A2EC1A66-561C-5406-E121-9A28994CA98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1700"/>
            <a:ext cx="4972050" cy="446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1E8574BA-D510-E611-E740-C7B65E2058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3400"/>
            <a:ext cx="293846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F519700C-2293-2D27-542A-A144BF5CC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23400"/>
            <a:ext cx="293846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748E4E-02AB-DC48-A4D7-BDFD143A95F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7657-B823-ADA6-AF8F-4F6D73C3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8C9A48F-E61F-0C92-52B2-4E666634E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5EBAA1FC-2309-2E87-2670-B24D3FADD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3F6703F3-9E81-6FAE-96CE-EFE446443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59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6731C-C64B-DD23-D484-F788EC2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0707552-01D0-10D0-63F6-2CA073CDE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D8D72662-AFB7-A7A7-06AA-CFF71B1D7D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FB3A72-6695-274C-57A7-0AE6120D38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55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7D3A-C673-6317-1213-7C0742E9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C6203C7-AF0C-6F64-5DF7-0BB624CFE2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EB5BFFED-6AA9-A0D7-8EBA-4A79AD7C4A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891BEDA-1236-2AA8-D0BF-0157C63BE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76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67A3-AC58-CEC5-037A-A6508430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92B41E9-AB62-1EEB-89FF-567D638A4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659E981D-CE2C-999E-F185-0843C09782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20A091A-70A5-46FB-4BA3-813D4A840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016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DC7A6-2EA0-8E5D-5D88-22445AA0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07F4B72-F0C8-4FB2-9842-6C2AB3348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90D1EECA-F9C5-63BF-9B34-55067CD9D6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D395231-6B00-1D10-0B79-AAB82B76A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501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5C9B-EBEC-98EE-7C49-F4EAEAF2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82F80DB-C042-5E69-8CBE-5F54CB036B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2896C4-A8E4-6C4E-A3FD-00DBF7B7A527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E0C679B-A01B-5035-BB22-EDAC47DFA1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5FBBEC5-9989-9B7C-F84B-0FF4278F2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1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CA89-CBFD-6598-68C5-ADDBB9E03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24FF3-5A28-D2DC-BDAE-836F9746F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F99D8-D7BE-F128-53E0-FEA1B588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29BB-E3F7-718F-3B61-1AA004AD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8518-4DC0-B4FC-51E9-1A9EC68E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2DC48-578A-DC45-83E5-E86559DE9DFB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1203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7D97-EBE9-C294-F6B6-2F32D103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73D0-85C8-9741-93A2-173FB1A38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F8B96-C50B-5159-A284-4F9D5FE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E6AD9-C045-51CA-2C0D-A45CCC1F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2101E-C922-A444-BFF0-987B0282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972D7-639C-4449-868A-7B2DDB1DDFFE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0015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069A-9012-7642-35C8-CF8DB679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1B3B-E184-B561-D3EA-3E9116E2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610A-E82F-D4AE-4953-68FDFCA1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3CEC6-39D5-E1CB-B857-189FA534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46D77-FB1C-EB57-530A-678FAE6D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12160-DD77-B44C-A1F0-FA2358DAD34E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9890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7916-5EEB-3471-2911-509000EC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4DFD-39EC-D34C-F31C-CDDA2F9B1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F655E-A8C9-A736-62C2-14A4E148C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C9A19-D8D9-EF2A-B343-3F14ECEB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EEA47-BCAD-D347-A17B-EEA7CA3F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222A8-B93A-8319-895D-F586E87C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68B097-E7BF-9A49-90D7-BB834D107A5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8417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0D69-20B4-AF29-3F72-047BA0D1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9BD58-CFA7-D045-E464-134DCDFFA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30979-8720-24F7-47DA-AA830B499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80F27-0DD6-A76F-4D7A-CD754E875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91EBF-0A30-20DD-D43C-EDB887A51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1A85F-DA8E-9876-5F9F-F5906D51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7D93D-0459-7985-E083-FB292997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E0690-8E03-A907-5256-FE30F3FD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FB1E5-AB0B-AB41-95F0-E756680FA3FC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2066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E1E8-BF46-72F4-DA71-72F2DE54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8670E-4E9B-42A8-404E-F702D618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5F31A-8C56-494A-94C6-BB733733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A075C-8536-B7C7-8DDE-CE80B97D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95137-D2F4-3E42-B2B8-93D58D05D395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5697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82142-FD0A-377C-2476-49571293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38B0C-C1C2-3CB2-7572-AA88A778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540F3-60A9-8CBF-E86C-A99DDCE9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9ED443-F584-3D4D-AAD2-71F2C36A7751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3043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413A-2620-2C0B-1BA6-72A47DC8E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F98A3-53E1-9018-EB4E-F309F5605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3321-69A5-01A6-DA9C-961E44762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E3D58-546A-7FA5-3DE8-03F9909E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4A8CF-AB83-53D9-12B8-C2458BF0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97ACF-8803-6289-FD75-D3148FB8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C47700-77BF-9643-9AFC-0959EDF3C75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62832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9B38-3FC8-4575-AC53-C6DD6F45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B5BB5-72F8-698E-A054-3FEC23674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88E72-E233-6A77-84BD-979295205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B303F-448F-4C37-9BF1-C8BCE701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ED572-E8F5-4FDC-674C-1D5DD5AB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F959C-7C71-73E2-856F-D3B2CBA3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32D61-154E-894D-B6AE-D47DBD1419D1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5023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10F5-8CE5-83AD-4159-5741CCE9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9FC98-3912-2D25-7C9D-00B82787F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0A631-B9A4-DC81-01E1-DB6B953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6FA07-925B-5F73-8D67-A96AABA0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1BD68-9C05-52E0-EF59-D7B37C58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019EB-FB1D-1C4D-B190-7543AF1B0FE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2960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B3E1F-C0E8-6EED-D22B-0FFB3F66A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D085-909C-8DBE-FC9D-29E70143C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0A4A2-D433-A7AF-1DDF-77750CD7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2D23B-9434-4036-C81B-95DF8895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972EE-90A0-D223-3FDD-C7BC6806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BEE4DD-19C8-5A49-86E4-D422243879BC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9103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E85454-DFCA-4526-1CEC-8337B25C7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9C9C93D-98A8-A472-DACD-B3149A436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35ED01-DAB7-B505-B46D-F777E46D93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AU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9D7CB4-CF2D-69D2-92EC-638071FFDB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AU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9AFE6B-475C-FD69-3688-6C9A6522C4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C1D02D-30D1-AF49-A175-B76AB0277896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FEB1-F147-08CC-6164-C3DF3C83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F8F08576-40FE-DA99-8E3B-38FF31CD3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6A88960F-AEF6-398C-4BB8-EC7134C453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C2046DEA-A683-0772-47A0-4C034A6BEE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ABE43F-81C1-E7DC-2A0A-E550A21382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3A7FD1-DA06-69B5-28CA-D66ABA7F574D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628F6-454D-1E81-BD91-DF0B35886EF3}"/>
              </a:ext>
            </a:extLst>
          </p:cNvPr>
          <p:cNvSpPr txBox="1"/>
          <p:nvPr/>
        </p:nvSpPr>
        <p:spPr>
          <a:xfrm>
            <a:off x="179512" y="332656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  <a:cs typeface="Arial Nova" panose="020F0502020204030204" pitchFamily="34" charset="0"/>
              </a:rPr>
              <a:t>Executive Summary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  <a:cs typeface="Arial Nova" panose="020F050202020403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97ED389-76C9-8ABD-1020-10403BE1A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0A457C-CE4E-27E6-D747-049B5DB95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954493"/>
              </p:ext>
            </p:extLst>
          </p:nvPr>
        </p:nvGraphicFramePr>
        <p:xfrm>
          <a:off x="736928" y="1839200"/>
          <a:ext cx="7776864" cy="2926080"/>
        </p:xfrm>
        <a:graphic>
          <a:graphicData uri="http://schemas.openxmlformats.org/drawingml/2006/table">
            <a:tbl>
              <a:tblPr/>
              <a:tblGrid>
                <a:gridCol w="2594272">
                  <a:extLst>
                    <a:ext uri="{9D8B030D-6E8A-4147-A177-3AD203B41FA5}">
                      <a16:colId xmlns:a16="http://schemas.microsoft.com/office/drawing/2014/main" val="878009797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1322462571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409569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The Business 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Approach (Data)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Key Questions Addressed.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3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Situation: WFH rate increases 5 times from 2011 to 2021 (6.4% to 32%)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Challenge: Current transport timetable and service schedules no longer align with these demand patterns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Goal: Optimize scheduling to meet current and anticipated demand based on data-driven insights.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Analysis of publicly available ABS data across two time periods focusing on Location of Work vs. Residence and Mode of Transport.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Usage Trends: High-level shifts by transport type.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WFH Impact: How remote work is reshaping the peak hour and transport planning.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New Routes: Evidence-based locations for new CBD-bound bus routes.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The CommBank </a:t>
                      </a:r>
                      <a:r>
                        <a:rPr lang="en-GB" sz="1200" b="0" i="0" dirty="0" err="1">
                          <a:latin typeface="Arial Nova" panose="020B0504020202020204" pitchFamily="34" charset="0"/>
                        </a:rPr>
                        <a:t>iQ</a:t>
                      </a: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 Edge: How banking transactional data can transform these insights from "demographic snapshots" into "real-time </a:t>
                      </a:r>
                      <a:r>
                        <a:rPr lang="en-GB" sz="1200" b="0" i="0" dirty="0" err="1">
                          <a:latin typeface="Arial Nova" panose="020B0504020202020204" pitchFamily="34" charset="0"/>
                        </a:rPr>
                        <a:t>behavioral</a:t>
                      </a:r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 intelligence".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4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67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57EA-9347-6C7E-F355-DF87610F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1402E478-6446-803F-C456-E7AF003CA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52E9BB78-24EA-920D-A7FA-4FE211C657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89014C32-3647-3869-4CEB-9F6C1B3C8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1BB3B5-CC88-1943-5754-B6CCC95CE3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20872D-DD72-43D9-6199-297398B5F9A5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7CBA6-A2B1-50E9-A38C-16839860F94E}"/>
              </a:ext>
            </a:extLst>
          </p:cNvPr>
          <p:cNvSpPr txBox="1"/>
          <p:nvPr/>
        </p:nvSpPr>
        <p:spPr>
          <a:xfrm>
            <a:off x="179512" y="332656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  <a:cs typeface="Arial Nova" panose="020F0502020204030204" pitchFamily="34" charset="0"/>
              </a:rPr>
              <a:t>What are the overall usage trends by transport type?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  <a:cs typeface="Arial Nova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C06138-517B-BA7E-FE2F-15A3FB6B7CF7}"/>
              </a:ext>
            </a:extLst>
          </p:cNvPr>
          <p:cNvSpPr/>
          <p:nvPr/>
        </p:nvSpPr>
        <p:spPr>
          <a:xfrm>
            <a:off x="146557" y="5003250"/>
            <a:ext cx="8793004" cy="1200329"/>
          </a:xfrm>
          <a:prstGeom prst="rect">
            <a:avLst/>
          </a:prstGeom>
          <a:solidFill>
            <a:srgbClr val="FFCB0A">
              <a:alpha val="352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FCBE7-76CD-97C1-097E-AEF78810DAD9}"/>
              </a:ext>
            </a:extLst>
          </p:cNvPr>
          <p:cNvSpPr txBox="1"/>
          <p:nvPr/>
        </p:nvSpPr>
        <p:spPr>
          <a:xfrm>
            <a:off x="146557" y="5003250"/>
            <a:ext cx="8793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Arial Nova" panose="020B0504020202020204" pitchFamily="34" charset="0"/>
              </a:rPr>
              <a:t>Private transport</a:t>
            </a:r>
            <a:r>
              <a:rPr lang="en-GB" sz="1200" dirty="0">
                <a:latin typeface="Arial Nova" panose="020B0504020202020204" pitchFamily="34" charset="0"/>
              </a:rPr>
              <a:t> is </a:t>
            </a:r>
            <a:r>
              <a:rPr lang="en-GB" sz="1200" b="1" dirty="0">
                <a:latin typeface="Arial Nova" panose="020B0504020202020204" pitchFamily="34" charset="0"/>
              </a:rPr>
              <a:t>dominant</a:t>
            </a:r>
            <a:r>
              <a:rPr lang="en-GB" sz="1200" dirty="0">
                <a:latin typeface="Arial Nova" panose="020B0504020202020204" pitchFamily="34" charset="0"/>
              </a:rPr>
              <a:t> </a:t>
            </a:r>
            <a:r>
              <a:rPr lang="en-GB" sz="1200" b="1" dirty="0">
                <a:latin typeface="Arial Nova" panose="020B0504020202020204" pitchFamily="34" charset="0"/>
              </a:rPr>
              <a:t>but declined sharply (</a:t>
            </a:r>
            <a:r>
              <a:rPr lang="en-GB" sz="1200" dirty="0">
                <a:latin typeface="Arial Nova" panose="020B0504020202020204" pitchFamily="34" charset="0"/>
              </a:rPr>
              <a:t>-28% from 2011 to 2021) (Fig.1)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Arial Nova" panose="020B0504020202020204" pitchFamily="34" charset="0"/>
              </a:rPr>
              <a:t>WFH</a:t>
            </a:r>
            <a:r>
              <a:rPr lang="en-GB" sz="1200" dirty="0">
                <a:latin typeface="Arial Nova" panose="020B0504020202020204" pitchFamily="34" charset="0"/>
              </a:rPr>
              <a:t> </a:t>
            </a:r>
            <a:r>
              <a:rPr lang="en-GB" sz="1200" b="1" dirty="0">
                <a:latin typeface="Arial Nova" panose="020B0504020202020204" pitchFamily="34" charset="0"/>
              </a:rPr>
              <a:t>increased dramatically</a:t>
            </a:r>
            <a:r>
              <a:rPr lang="en-GB" sz="1200" dirty="0">
                <a:latin typeface="Arial Nova" panose="020B0504020202020204" pitchFamily="34" charset="0"/>
              </a:rPr>
              <a:t>, +30% (2016-2021), ~36% of workers (Fig.1)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Arial Nova" panose="020B0504020202020204" pitchFamily="34" charset="0"/>
              </a:rPr>
              <a:t>Among </a:t>
            </a:r>
            <a:r>
              <a:rPr lang="en-GB" sz="1200" b="1" dirty="0">
                <a:latin typeface="Arial Nova" panose="020B0504020202020204" pitchFamily="34" charset="0"/>
              </a:rPr>
              <a:t>physical commuters </a:t>
            </a:r>
            <a:r>
              <a:rPr lang="en-GB" sz="1200" dirty="0">
                <a:latin typeface="Arial Nova" panose="020B0504020202020204" pitchFamily="34" charset="0"/>
              </a:rPr>
              <a:t>(</a:t>
            </a:r>
            <a:r>
              <a:rPr lang="en-GB" sz="1200" dirty="0" err="1">
                <a:latin typeface="Arial Nova" panose="020B0504020202020204" pitchFamily="34" charset="0"/>
              </a:rPr>
              <a:t>excld</a:t>
            </a:r>
            <a:r>
              <a:rPr lang="en-GB" sz="1200" dirty="0">
                <a:latin typeface="Arial Nova" panose="020B0504020202020204" pitchFamily="34" charset="0"/>
              </a:rPr>
              <a:t> WFH), the </a:t>
            </a:r>
            <a:r>
              <a:rPr lang="en-GB" sz="1200" b="1" dirty="0">
                <a:latin typeface="Arial Nova" panose="020B0504020202020204" pitchFamily="34" charset="0"/>
              </a:rPr>
              <a:t>Private Vehicle </a:t>
            </a:r>
            <a:r>
              <a:rPr lang="en-GB" sz="1200" dirty="0">
                <a:latin typeface="Arial Nova" panose="020B0504020202020204" pitchFamily="34" charset="0"/>
              </a:rPr>
              <a:t>is </a:t>
            </a:r>
            <a:r>
              <a:rPr lang="en-GB" sz="1200" b="1" dirty="0">
                <a:latin typeface="Arial Nova" panose="020B0504020202020204" pitchFamily="34" charset="0"/>
              </a:rPr>
              <a:t>86.8%</a:t>
            </a:r>
            <a:r>
              <a:rPr lang="en-GB" sz="1200" dirty="0">
                <a:latin typeface="Arial Nova" panose="020B0504020202020204" pitchFamily="34" charset="0"/>
              </a:rPr>
              <a:t> in 2021 (from 75.4% in 2016)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Arial Nova" panose="020B0504020202020204" pitchFamily="34" charset="0"/>
              </a:rPr>
              <a:t>In 2021, </a:t>
            </a:r>
            <a:r>
              <a:rPr lang="en-GB" sz="1200" b="1" dirty="0">
                <a:latin typeface="Arial Nova" panose="020B0504020202020204" pitchFamily="34" charset="0"/>
              </a:rPr>
              <a:t>WFH</a:t>
            </a:r>
            <a:r>
              <a:rPr lang="en-GB" sz="1200" dirty="0">
                <a:latin typeface="Arial Nova" panose="020B0504020202020204" pitchFamily="34" charset="0"/>
              </a:rPr>
              <a:t> (39.1%) and </a:t>
            </a:r>
            <a:r>
              <a:rPr lang="en-GB" sz="1200" b="1" dirty="0">
                <a:latin typeface="Arial Nova" panose="020B0504020202020204" pitchFamily="34" charset="0"/>
              </a:rPr>
              <a:t>Private Vehicle </a:t>
            </a:r>
            <a:r>
              <a:rPr lang="en-GB" sz="1200" dirty="0">
                <a:latin typeface="Arial Nova" panose="020B0504020202020204" pitchFamily="34" charset="0"/>
              </a:rPr>
              <a:t>(38.5%) were </a:t>
            </a:r>
            <a:r>
              <a:rPr lang="en-GB" sz="1200" b="1" dirty="0">
                <a:latin typeface="Arial Nova" panose="020B0504020202020204" pitchFamily="34" charset="0"/>
              </a:rPr>
              <a:t>nearly equal </a:t>
            </a:r>
            <a:r>
              <a:rPr lang="en-GB" sz="1200" dirty="0">
                <a:latin typeface="Arial Nova" panose="020B0504020202020204" pitchFamily="34" charset="0"/>
              </a:rPr>
              <a:t>in </a:t>
            </a:r>
            <a:r>
              <a:rPr lang="en-GB" sz="1200" b="1" dirty="0">
                <a:latin typeface="Arial Nova" panose="020B0504020202020204" pitchFamily="34" charset="0"/>
              </a:rPr>
              <a:t>Greater Sydney </a:t>
            </a:r>
            <a:r>
              <a:rPr lang="en-GB" sz="1200" dirty="0">
                <a:latin typeface="Arial Nova" panose="020B0504020202020204" pitchFamily="34" charset="0"/>
              </a:rPr>
              <a:t>while in </a:t>
            </a:r>
            <a:r>
              <a:rPr lang="en-GB" sz="1200" b="1" dirty="0">
                <a:latin typeface="Arial Nova" panose="020B0504020202020204" pitchFamily="34" charset="0"/>
              </a:rPr>
              <a:t>Regional NSW</a:t>
            </a:r>
            <a:r>
              <a:rPr lang="en-GB" sz="1200" dirty="0">
                <a:latin typeface="Arial Nova" panose="020B0504020202020204" pitchFamily="34" charset="0"/>
              </a:rPr>
              <a:t>, </a:t>
            </a:r>
            <a:r>
              <a:rPr lang="en-GB" sz="1200" b="1" dirty="0">
                <a:latin typeface="Arial Nova" panose="020B0504020202020204" pitchFamily="34" charset="0"/>
              </a:rPr>
              <a:t>WFH</a:t>
            </a:r>
            <a:r>
              <a:rPr lang="en-GB" sz="1200" dirty="0">
                <a:latin typeface="Arial Nova" panose="020B0504020202020204" pitchFamily="34" charset="0"/>
              </a:rPr>
              <a:t> was </a:t>
            </a:r>
            <a:r>
              <a:rPr lang="en-GB" sz="1200" b="1" dirty="0">
                <a:latin typeface="Arial Nova" panose="020B0504020202020204" pitchFamily="34" charset="0"/>
              </a:rPr>
              <a:t>only 15.8%, Private Vehicles </a:t>
            </a:r>
            <a:r>
              <a:rPr lang="en-GB" sz="1200" dirty="0">
                <a:latin typeface="Arial Nova" panose="020B0504020202020204" pitchFamily="34" charset="0"/>
              </a:rPr>
              <a:t>accounted for </a:t>
            </a:r>
            <a:r>
              <a:rPr lang="en-GB" sz="1200" b="1" dirty="0">
                <a:latin typeface="Arial Nova" panose="020B0504020202020204" pitchFamily="34" charset="0"/>
              </a:rPr>
              <a:t>67%</a:t>
            </a:r>
            <a:r>
              <a:rPr lang="en-GB" sz="1200" dirty="0">
                <a:latin typeface="Arial Nova" panose="020B0504020202020204" pitchFamily="34" charset="0"/>
              </a:rPr>
              <a:t> (Fig.2)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Arial Nova" panose="020B0504020202020204" pitchFamily="34" charset="0"/>
              </a:rPr>
              <a:t>Centre: all day services, connecting hubs to CBD, regional: hub to hub express 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C18C60-EF6B-56F7-CB55-2D1C01376B08}"/>
              </a:ext>
            </a:extLst>
          </p:cNvPr>
          <p:cNvSpPr txBox="1"/>
          <p:nvPr/>
        </p:nvSpPr>
        <p:spPr>
          <a:xfrm>
            <a:off x="755575" y="1146723"/>
            <a:ext cx="77768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 Nova Cond" panose="020B0504020202020204" pitchFamily="34" charset="0"/>
              </a:rPr>
              <a:t>WFH growth has reduced total commuting demand, weakening traditional weekday peak patterns rather than redistributing trips across modes.</a:t>
            </a:r>
          </a:p>
          <a:p>
            <a:pPr algn="ctr"/>
            <a:endParaRPr lang="en-US" sz="1400" dirty="0">
              <a:latin typeface="Arial Nova Cond" panose="020B05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D87664F-EAF3-C31D-29F4-055A69CAE4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  <p:pic>
        <p:nvPicPr>
          <p:cNvPr id="6" name="Picture 5" descr="A graph of a travel to work mode share&#10;&#10;AI-generated content may be incorrect.">
            <a:extLst>
              <a:ext uri="{FF2B5EF4-FFF2-40B4-BE49-F238E27FC236}">
                <a16:creationId xmlns:a16="http://schemas.microsoft.com/office/drawing/2014/main" id="{EEF1A4C8-8A86-78B1-783B-3E056EA8F6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081" y="1988665"/>
            <a:ext cx="4086295" cy="2485647"/>
          </a:xfrm>
          <a:prstGeom prst="rect">
            <a:avLst/>
          </a:prstGeom>
        </p:spPr>
      </p:pic>
      <p:pic>
        <p:nvPicPr>
          <p:cNvPr id="10" name="Picture 9" descr="A close-up of a graph&#10;&#10;AI-generated content may be incorrect.">
            <a:extLst>
              <a:ext uri="{FF2B5EF4-FFF2-40B4-BE49-F238E27FC236}">
                <a16:creationId xmlns:a16="http://schemas.microsoft.com/office/drawing/2014/main" id="{59544254-1B7B-D87B-8970-C29EBB9707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5683" y="2021505"/>
            <a:ext cx="4381641" cy="245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8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DA6A3-A88C-DFED-5517-346512A1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23DFD002-AC17-B9EC-A30B-BC898418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57378008-ADC0-FB74-D3F7-9951433AF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F3AB80E8-7A74-BF78-97E0-AA39CE5A5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155AFF9-1656-71CF-6028-FC9F98FC18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BD2685-B170-E8A1-02E0-023EE9CED3D4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70606-FEE4-D206-FA9C-35EBA09B62D2}"/>
              </a:ext>
            </a:extLst>
          </p:cNvPr>
          <p:cNvSpPr txBox="1"/>
          <p:nvPr/>
        </p:nvSpPr>
        <p:spPr>
          <a:xfrm>
            <a:off x="161786" y="315234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</a:rPr>
              <a:t>How has WFH changed and what does this mean for planning?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904075-2FD9-1798-190A-EEBEF7BF4549}"/>
              </a:ext>
            </a:extLst>
          </p:cNvPr>
          <p:cNvSpPr/>
          <p:nvPr/>
        </p:nvSpPr>
        <p:spPr>
          <a:xfrm>
            <a:off x="179512" y="5202194"/>
            <a:ext cx="4392488" cy="1200329"/>
          </a:xfrm>
          <a:prstGeom prst="rect">
            <a:avLst/>
          </a:prstGeom>
          <a:solidFill>
            <a:srgbClr val="FFCB0A">
              <a:alpha val="352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35F01-DCA4-E3B9-B537-BA94F30B1C5D}"/>
              </a:ext>
            </a:extLst>
          </p:cNvPr>
          <p:cNvSpPr txBox="1"/>
          <p:nvPr/>
        </p:nvSpPr>
        <p:spPr>
          <a:xfrm>
            <a:off x="179511" y="5202193"/>
            <a:ext cx="4392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b="1" dirty="0">
                <a:latin typeface="Arial Nova" panose="020B0504020202020204" pitchFamily="34" charset="0"/>
              </a:rPr>
              <a:t>Insights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b="1" dirty="0">
                <a:latin typeface="Arial Nova" panose="020B0504020202020204" pitchFamily="34" charset="0"/>
              </a:rPr>
              <a:t>WFH </a:t>
            </a:r>
            <a:r>
              <a:rPr lang="en-GB" sz="900" dirty="0">
                <a:latin typeface="Arial Nova" panose="020B0504020202020204" pitchFamily="34" charset="0"/>
              </a:rPr>
              <a:t>adoption </a:t>
            </a:r>
            <a:r>
              <a:rPr lang="en-GB" sz="900" b="1" dirty="0">
                <a:latin typeface="Arial Nova" panose="020B0504020202020204" pitchFamily="34" charset="0"/>
              </a:rPr>
              <a:t>increased sharply and unevenly</a:t>
            </a:r>
            <a:r>
              <a:rPr lang="en-GB" sz="900" dirty="0">
                <a:latin typeface="Arial Nova" panose="020B0504020202020204" pitchFamily="34" charset="0"/>
              </a:rPr>
              <a:t>, with median SA2 WFH rate from ~5% to ~30% (2011-2021), individual SA2s ranging from 0% to ~70% (Fig.3)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latin typeface="Arial Nova" panose="020B0504020202020204" pitchFamily="34" charset="0"/>
              </a:rPr>
              <a:t>In several </a:t>
            </a:r>
            <a:r>
              <a:rPr lang="en-GB" sz="900" b="1" dirty="0">
                <a:latin typeface="Arial Nova" panose="020B0504020202020204" pitchFamily="34" charset="0"/>
              </a:rPr>
              <a:t>high-density residential areas</a:t>
            </a:r>
            <a:r>
              <a:rPr lang="en-GB" sz="900" dirty="0">
                <a:latin typeface="Arial Nova" panose="020B0504020202020204" pitchFamily="34" charset="0"/>
              </a:rPr>
              <a:t>, over </a:t>
            </a:r>
            <a:r>
              <a:rPr lang="en-GB" sz="900" b="1" dirty="0">
                <a:latin typeface="Arial Nova" panose="020B0504020202020204" pitchFamily="34" charset="0"/>
              </a:rPr>
              <a:t>2/3 of the workforce now work from home</a:t>
            </a:r>
            <a:r>
              <a:rPr lang="en-GB" sz="900" dirty="0">
                <a:latin typeface="Arial Nova" panose="020B0504020202020204" pitchFamily="34" charset="0"/>
              </a:rPr>
              <a:t> (Balmain, </a:t>
            </a:r>
            <a:r>
              <a:rPr lang="en-GB" sz="900" dirty="0" err="1">
                <a:latin typeface="Arial Nova" panose="020B0504020202020204" pitchFamily="34" charset="0"/>
              </a:rPr>
              <a:t>Erskineville</a:t>
            </a:r>
            <a:r>
              <a:rPr lang="en-GB" sz="900" dirty="0">
                <a:latin typeface="Arial Nova" panose="020B0504020202020204" pitchFamily="34" charset="0"/>
              </a:rPr>
              <a:t> – Alexandria) (Fig.4)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b="1" dirty="0">
                <a:latin typeface="Arial Nova" panose="020B0504020202020204" pitchFamily="34" charset="0"/>
              </a:rPr>
              <a:t>Higher WFH adoption is associated with higher CBD dependency</a:t>
            </a:r>
            <a:r>
              <a:rPr lang="en-GB" sz="900" dirty="0">
                <a:latin typeface="Arial Nova" panose="020B0504020202020204" pitchFamily="34" charset="0"/>
              </a:rPr>
              <a:t>, indicating WFH is most prevalent among CBD-based workers (Fig. 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B82B9-E254-04E1-52C1-EB25FF07F309}"/>
              </a:ext>
            </a:extLst>
          </p:cNvPr>
          <p:cNvSpPr txBox="1"/>
          <p:nvPr/>
        </p:nvSpPr>
        <p:spPr>
          <a:xfrm>
            <a:off x="755575" y="1146723"/>
            <a:ext cx="777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 Nova Cond" panose="020B0504020202020204" pitchFamily="34" charset="0"/>
              </a:rPr>
              <a:t>WFH has fragmented weekday demand, reducing frequency but not CBD reliance, requiring more localised and flexible transport planning</a:t>
            </a:r>
            <a:endParaRPr lang="en-US" sz="1400" dirty="0">
              <a:latin typeface="Arial Nova Cond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AFE4A5-D53A-1D99-90C9-7D45145870A8}"/>
              </a:ext>
            </a:extLst>
          </p:cNvPr>
          <p:cNvSpPr/>
          <p:nvPr/>
        </p:nvSpPr>
        <p:spPr>
          <a:xfrm>
            <a:off x="4571999" y="5202194"/>
            <a:ext cx="4392488" cy="1200330"/>
          </a:xfrm>
          <a:prstGeom prst="rect">
            <a:avLst/>
          </a:prstGeom>
          <a:solidFill>
            <a:srgbClr val="FFCB0A">
              <a:alpha val="352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6CBB7-7BCF-0D1C-5438-E6B72863B4D6}"/>
              </a:ext>
            </a:extLst>
          </p:cNvPr>
          <p:cNvSpPr txBox="1"/>
          <p:nvPr/>
        </p:nvSpPr>
        <p:spPr>
          <a:xfrm>
            <a:off x="4571998" y="5202195"/>
            <a:ext cx="4392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b="1" dirty="0">
                <a:latin typeface="Arial Nova" panose="020B0504020202020204" pitchFamily="34" charset="0"/>
              </a:rPr>
              <a:t>Impact on Transport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latin typeface="Arial Nova" panose="020B0504020202020204" pitchFamily="34" charset="0"/>
              </a:rPr>
              <a:t>CBD travel is still important less regular. Planning should shift from "peak capacity" to "consistent frequency" throughout the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latin typeface="Arial Nova" panose="020B0504020202020204" pitchFamily="34" charset="0"/>
              </a:rPr>
              <a:t>NSW Transport should adopt place-based and flexible service planning, scaling services at growth areas with lower WFH potential (e.g., outer suburbs where manual/service </a:t>
            </a:r>
            <a:r>
              <a:rPr lang="en-GB" sz="900" dirty="0" err="1">
                <a:latin typeface="Arial Nova" panose="020B0504020202020204" pitchFamily="34" charset="0"/>
              </a:rPr>
              <a:t>labor</a:t>
            </a:r>
            <a:r>
              <a:rPr lang="en-GB" sz="900" dirty="0">
                <a:latin typeface="Arial Nova" panose="020B0504020202020204" pitchFamily="34" charset="0"/>
              </a:rPr>
              <a:t> is more prevalent)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latin typeface="Arial Nova" panose="020B0504020202020204" pitchFamily="34" charset="0"/>
              </a:rPr>
              <a:t>At high WFH areas, their travel patterns likely shift toward local trips. Transport planning should prioritize local </a:t>
            </a:r>
            <a:r>
              <a:rPr lang="en-GB" sz="900" dirty="0" err="1">
                <a:latin typeface="Arial Nova" panose="020B0504020202020204" pitchFamily="34" charset="0"/>
              </a:rPr>
              <a:t>neighborhood</a:t>
            </a:r>
            <a:r>
              <a:rPr lang="en-GB" sz="900" dirty="0">
                <a:latin typeface="Arial Nova" panose="020B0504020202020204" pitchFamily="34" charset="0"/>
              </a:rPr>
              <a:t> connections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B91A07C-6088-B10C-2CB5-B321B313E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  <p:pic>
        <p:nvPicPr>
          <p:cNvPr id="23" name="Picture 22" descr="A graph of a distribution of adoption&#10;&#10;AI-generated content may be incorrect.">
            <a:extLst>
              <a:ext uri="{FF2B5EF4-FFF2-40B4-BE49-F238E27FC236}">
                <a16:creationId xmlns:a16="http://schemas.microsoft.com/office/drawing/2014/main" id="{C0F1104A-1B2A-7DD3-C061-9DC18BED2E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362" y="2026471"/>
            <a:ext cx="4739397" cy="2720245"/>
          </a:xfrm>
          <a:prstGeom prst="rect">
            <a:avLst/>
          </a:prstGeom>
        </p:spPr>
      </p:pic>
      <p:pic>
        <p:nvPicPr>
          <p:cNvPr id="29" name="Picture 2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F8F20D8-9D62-AA0C-9231-1293C5145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5312" y="1773415"/>
            <a:ext cx="3122498" cy="1619691"/>
          </a:xfrm>
          <a:prstGeom prst="rect">
            <a:avLst/>
          </a:prstGeom>
        </p:spPr>
      </p:pic>
      <p:pic>
        <p:nvPicPr>
          <p:cNvPr id="6" name="Picture 5" descr="A chart with yellow dots&#10;&#10;AI-generated content may be incorrect.">
            <a:extLst>
              <a:ext uri="{FF2B5EF4-FFF2-40B4-BE49-F238E27FC236}">
                <a16:creationId xmlns:a16="http://schemas.microsoft.com/office/drawing/2014/main" id="{80018376-CE82-01D5-F401-98D65A23D1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2649" y="3414543"/>
            <a:ext cx="3055161" cy="173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7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E391-C6DD-9C5B-F650-1A0AE321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16946122-0DB3-9E6C-591E-280505E85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B17A1AE2-C4FB-553B-4D76-CFC728E9CE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F3AB80E8-7A74-BF78-97E0-AA39CE5A5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36A03D5-25EC-24AC-F78C-B0A30D8BE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CA8FFE-5C12-55CC-4D8F-8DBF4F24F529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D67F9-F961-15C1-ADBA-D1A3DC05754D}"/>
              </a:ext>
            </a:extLst>
          </p:cNvPr>
          <p:cNvSpPr txBox="1"/>
          <p:nvPr/>
        </p:nvSpPr>
        <p:spPr>
          <a:xfrm>
            <a:off x="141447" y="315234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</a:rPr>
              <a:t>Where should NSW Transport consider prioritising bus services?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66E032-4551-3FF6-B3C0-2429F620C501}"/>
              </a:ext>
            </a:extLst>
          </p:cNvPr>
          <p:cNvSpPr/>
          <p:nvPr/>
        </p:nvSpPr>
        <p:spPr>
          <a:xfrm>
            <a:off x="178524" y="5071736"/>
            <a:ext cx="8712968" cy="1275934"/>
          </a:xfrm>
          <a:prstGeom prst="rect">
            <a:avLst/>
          </a:prstGeom>
          <a:solidFill>
            <a:srgbClr val="FFCB0A">
              <a:alpha val="3529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9D975-B552-AB7E-FF28-3134E823217A}"/>
              </a:ext>
            </a:extLst>
          </p:cNvPr>
          <p:cNvSpPr txBox="1"/>
          <p:nvPr/>
        </p:nvSpPr>
        <p:spPr>
          <a:xfrm>
            <a:off x="141447" y="514734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 err="1">
                <a:latin typeface="Arial Nova" panose="020B0504020202020204" pitchFamily="34" charset="0"/>
              </a:rPr>
              <a:t>Erskineville</a:t>
            </a:r>
            <a:r>
              <a:rPr lang="en-GB" sz="1200" b="1" dirty="0">
                <a:latin typeface="Arial Nova" panose="020B0504020202020204" pitchFamily="34" charset="0"/>
              </a:rPr>
              <a:t>–Alexandria, Potts Point–Woolloomooloo, and Glebe–Forest Lodge </a:t>
            </a:r>
            <a:r>
              <a:rPr lang="en-GB" sz="1200" dirty="0">
                <a:latin typeface="Arial Nova" panose="020B0504020202020204" pitchFamily="34" charset="0"/>
              </a:rPr>
              <a:t>dominate due to </a:t>
            </a:r>
            <a:r>
              <a:rPr lang="en-GB" sz="1200" b="1" dirty="0">
                <a:latin typeface="Arial Nova" panose="020B0504020202020204" pitchFamily="34" charset="0"/>
              </a:rPr>
              <a:t>high absolute volumes of CBD-bound commuters</a:t>
            </a:r>
            <a:r>
              <a:rPr lang="en-GB" sz="1200" dirty="0">
                <a:latin typeface="Arial Nova" panose="020B0504020202020204" pitchFamily="34" charset="0"/>
              </a:rPr>
              <a:t> (each in the hundreds) combined with </a:t>
            </a:r>
            <a:r>
              <a:rPr lang="en-GB" sz="1200" b="1" dirty="0">
                <a:latin typeface="Arial Nova" panose="020B0504020202020204" pitchFamily="34" charset="0"/>
              </a:rPr>
              <a:t>low public transport share </a:t>
            </a:r>
            <a:r>
              <a:rPr lang="en-GB" sz="1200" dirty="0">
                <a:latin typeface="Arial Nova" panose="020B0504020202020204" pitchFamily="34" charset="0"/>
              </a:rPr>
              <a:t>(≈30–40%) (Fig.6)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Arial Nova" panose="020B0504020202020204" pitchFamily="34" charset="0"/>
              </a:rPr>
              <a:t>Sydney (South)–Haymarket, Surry Hills, and Waterloo </a:t>
            </a:r>
            <a:r>
              <a:rPr lang="en-GB" sz="1200" dirty="0">
                <a:latin typeface="Arial Nova" panose="020B0504020202020204" pitchFamily="34" charset="0"/>
              </a:rPr>
              <a:t>rank highly because of </a:t>
            </a:r>
            <a:r>
              <a:rPr lang="en-GB" sz="1200" b="1" dirty="0">
                <a:latin typeface="Arial Nova" panose="020B0504020202020204" pitchFamily="34" charset="0"/>
              </a:rPr>
              <a:t>very low WFH rates </a:t>
            </a:r>
            <a:r>
              <a:rPr lang="en-GB" sz="1200" dirty="0">
                <a:latin typeface="Arial Nova" panose="020B0504020202020204" pitchFamily="34" charset="0"/>
              </a:rPr>
              <a:t>(generally below ~25%) (Fig.6)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Arial Nova" panose="020B0504020202020204" pitchFamily="34" charset="0"/>
              </a:rPr>
              <a:t>Port Macquarie–West </a:t>
            </a:r>
            <a:r>
              <a:rPr lang="en-GB" sz="1200" dirty="0">
                <a:latin typeface="Arial Nova" panose="020B0504020202020204" pitchFamily="34" charset="0"/>
              </a:rPr>
              <a:t>is the only regional SA2 in the top 10, driven by extremely </a:t>
            </a:r>
            <a:r>
              <a:rPr lang="en-GB" sz="1200" b="1" dirty="0">
                <a:latin typeface="Arial Nova" panose="020B0504020202020204" pitchFamily="34" charset="0"/>
              </a:rPr>
              <a:t>low public transport share </a:t>
            </a:r>
            <a:r>
              <a:rPr lang="en-GB" sz="1200" dirty="0">
                <a:latin typeface="Arial Nova" panose="020B0504020202020204" pitchFamily="34" charset="0"/>
              </a:rPr>
              <a:t>(below 1%) and </a:t>
            </a:r>
            <a:r>
              <a:rPr lang="en-GB" sz="1200" b="1" dirty="0">
                <a:latin typeface="Arial Nova" panose="020B0504020202020204" pitchFamily="34" charset="0"/>
              </a:rPr>
              <a:t>limited WFH adoption </a:t>
            </a:r>
            <a:r>
              <a:rPr lang="en-GB" sz="1200" dirty="0">
                <a:latin typeface="Arial Nova" panose="020B0504020202020204" pitchFamily="34" charset="0"/>
              </a:rPr>
              <a:t>(around 10–15%) (Fig.6)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231327-4873-2869-0186-FA69C807D6D6}"/>
              </a:ext>
            </a:extLst>
          </p:cNvPr>
          <p:cNvSpPr txBox="1"/>
          <p:nvPr/>
        </p:nvSpPr>
        <p:spPr>
          <a:xfrm>
            <a:off x="6531801" y="2132856"/>
            <a:ext cx="2025334" cy="2246769"/>
          </a:xfrm>
          <a:prstGeom prst="rect">
            <a:avLst/>
          </a:prstGeom>
          <a:solidFill>
            <a:srgbClr val="FFCB0A">
              <a:alpha val="43714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Arial Nova" panose="020B0504020202020204" pitchFamily="34" charset="0"/>
              </a:rPr>
              <a:t>Score Distribution: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Arial Nova" panose="020B0504020202020204" pitchFamily="34" charset="0"/>
              </a:rPr>
              <a:t>40% – High absolute CBD commuter volume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Arial Nova" panose="020B0504020202020204" pitchFamily="34" charset="0"/>
              </a:rPr>
              <a:t>20% – Positive CBD commuter growth (2016–21)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Arial Nova" panose="020B0504020202020204" pitchFamily="34" charset="0"/>
              </a:rPr>
              <a:t>20% – Low current public transport share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Arial Nova" panose="020B0504020202020204" pitchFamily="34" charset="0"/>
              </a:rPr>
              <a:t>10% – Lower WFH rate (greater likelihood of physical commuting)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>
                <a:latin typeface="Arial Nova" panose="020B0504020202020204" pitchFamily="34" charset="0"/>
              </a:rPr>
              <a:t>10% – Presence of mixed-mode travel (indicating multimodal openness)</a:t>
            </a:r>
          </a:p>
          <a:p>
            <a:endParaRPr lang="en-US" sz="1000" dirty="0">
              <a:latin typeface="Arial Nova" panose="020B05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ED652-DAF7-4F66-C4DD-4FD480738875}"/>
              </a:ext>
            </a:extLst>
          </p:cNvPr>
          <p:cNvSpPr txBox="1"/>
          <p:nvPr/>
        </p:nvSpPr>
        <p:spPr>
          <a:xfrm>
            <a:off x="755575" y="1146723"/>
            <a:ext cx="777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 Nova" panose="020B0504020202020204" pitchFamily="34" charset="0"/>
              </a:rPr>
              <a:t>Targeted CBD bus routes in these SA2s offer the highest near-term return, serving real, growing demand where public transport is currently under-provided.</a:t>
            </a:r>
            <a:endParaRPr lang="en-US" sz="1400" dirty="0">
              <a:latin typeface="Arial Nova" panose="020B05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34D2326-5927-F053-B0CC-735BBE521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  <p:pic>
        <p:nvPicPr>
          <p:cNvPr id="24" name="Picture 23" descr="A graph of a number of yellow bars&#10;&#10;AI-generated content may be incorrect.">
            <a:extLst>
              <a:ext uri="{FF2B5EF4-FFF2-40B4-BE49-F238E27FC236}">
                <a16:creationId xmlns:a16="http://schemas.microsoft.com/office/drawing/2014/main" id="{F65E909A-E189-8CF4-13F0-61590F46CB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401" y="1816956"/>
            <a:ext cx="5313719" cy="301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8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411A-18A6-E865-49F4-D33A21EC5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CA229A50-3D80-C7CB-650A-F29065CC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CC6A0495-0472-2B33-B7A7-6A7311FF7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C2046DEA-A683-0772-47A0-4C034A6BEE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00DF7F1-D811-1147-6C28-A18CCC9A3C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91486E-4061-BB33-AA78-A52346D811B2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7A282-75D4-B742-F5B8-57E432D4C85F}"/>
              </a:ext>
            </a:extLst>
          </p:cNvPr>
          <p:cNvSpPr txBox="1"/>
          <p:nvPr/>
        </p:nvSpPr>
        <p:spPr>
          <a:xfrm>
            <a:off x="179512" y="332656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</a:rPr>
              <a:t>How CommBank </a:t>
            </a:r>
            <a:r>
              <a:rPr lang="en-GB" sz="1800" b="1" dirty="0" err="1">
                <a:latin typeface="Arial Nova Cond" panose="020B0504020202020204" pitchFamily="34" charset="0"/>
                <a:ea typeface="Apple Symbols" panose="02000000000000000000" pitchFamily="2" charset="-79"/>
              </a:rPr>
              <a:t>iQ</a:t>
            </a:r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</a:rPr>
              <a:t> &amp; other data could strengthen insights?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47FBFC-93AE-878D-29DB-8B3542429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87698"/>
              </p:ext>
            </p:extLst>
          </p:nvPr>
        </p:nvGraphicFramePr>
        <p:xfrm>
          <a:off x="485292" y="1711386"/>
          <a:ext cx="7776864" cy="1645920"/>
        </p:xfrm>
        <a:graphic>
          <a:graphicData uri="http://schemas.openxmlformats.org/drawingml/2006/table">
            <a:tbl>
              <a:tblPr/>
              <a:tblGrid>
                <a:gridCol w="2594272">
                  <a:extLst>
                    <a:ext uri="{9D8B030D-6E8A-4147-A177-3AD203B41FA5}">
                      <a16:colId xmlns:a16="http://schemas.microsoft.com/office/drawing/2014/main" val="878009797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1322462571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409569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Gap in current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What CommBank </a:t>
                      </a:r>
                      <a:r>
                        <a:rPr lang="en-GB" sz="1200" b="1" i="0" dirty="0" err="1">
                          <a:latin typeface="Arial Nova" panose="020B0504020202020204" pitchFamily="34" charset="0"/>
                        </a:rPr>
                        <a:t>iQ</a:t>
                      </a:r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 adds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3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Static census snapshots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Near-real-time trends (monthly/weekly)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Build time-of-day and day-of-week demand profiles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Place of work SA2 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Actual destination activity for other purposes (retail, education, health)</a:t>
                      </a:r>
                      <a:endParaRPr lang="en-GB" sz="1200" b="0" i="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Identify popular destinations for public transport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3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dirty="0">
                          <a:latin typeface="Arial Nova" panose="020B0504020202020204" pitchFamily="34" charset="0"/>
                        </a:rPr>
                        <a:t>No spending </a:t>
                      </a:r>
                      <a:r>
                        <a:rPr lang="en-GB" sz="1200" b="0" i="0" dirty="0" err="1">
                          <a:latin typeface="Arial Nova" panose="020B0504020202020204" pitchFamily="34" charset="0"/>
                        </a:rPr>
                        <a:t>behavior</a:t>
                      </a:r>
                      <a:endParaRPr lang="en-GB" sz="1200" b="0" i="0" dirty="0">
                        <a:latin typeface="Arial Nova" panose="020B05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Spending 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behavior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(High toll and parking spend)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Identify areas likely to benefit most from improved public transport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6734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084EDE-3D60-0E5A-0FFD-5A150F648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55025"/>
              </p:ext>
            </p:extLst>
          </p:nvPr>
        </p:nvGraphicFramePr>
        <p:xfrm>
          <a:off x="479998" y="4116614"/>
          <a:ext cx="6396258" cy="1920240"/>
        </p:xfrm>
        <a:graphic>
          <a:graphicData uri="http://schemas.openxmlformats.org/drawingml/2006/table">
            <a:tbl>
              <a:tblPr/>
              <a:tblGrid>
                <a:gridCol w="3210866">
                  <a:extLst>
                    <a:ext uri="{9D8B030D-6E8A-4147-A177-3AD203B41FA5}">
                      <a16:colId xmlns:a16="http://schemas.microsoft.com/office/drawing/2014/main" val="878009797"/>
                    </a:ext>
                  </a:extLst>
                </a:gridCol>
                <a:gridCol w="3185392">
                  <a:extLst>
                    <a:ext uri="{9D8B030D-6E8A-4147-A177-3AD203B41FA5}">
                      <a16:colId xmlns:a16="http://schemas.microsoft.com/office/drawing/2014/main" val="1322462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Other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dirty="0">
                          <a:latin typeface="Arial Nova" panose="020B0504020202020204" pitchFamily="34" charset="0"/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3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Opal Card Tap-on/off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Identify which existing routes are overloaded/underused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Road congestion / speed profiles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Choose corridors where buses can actually deliver time advantage.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3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Land use + growth forecasts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Predictive planning for future growth demand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643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Major Events &amp; Stadium Calendars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Model temporary demand spikes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6734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69320E-DD67-7D1B-2B2C-0AEA908EEE9E}"/>
              </a:ext>
            </a:extLst>
          </p:cNvPr>
          <p:cNvSpPr txBox="1"/>
          <p:nvPr/>
        </p:nvSpPr>
        <p:spPr>
          <a:xfrm>
            <a:off x="451198" y="1168166"/>
            <a:ext cx="620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 Nova Cond" panose="020B0504020202020204" pitchFamily="34" charset="0"/>
              </a:rPr>
              <a:t>What CommBank </a:t>
            </a:r>
            <a:r>
              <a:rPr lang="en-GB" sz="1400" b="1" dirty="0" err="1">
                <a:latin typeface="Arial Nova Cond" panose="020B0504020202020204" pitchFamily="34" charset="0"/>
              </a:rPr>
              <a:t>iQ</a:t>
            </a:r>
            <a:r>
              <a:rPr lang="en-GB" sz="1400" b="1" dirty="0">
                <a:latin typeface="Arial Nova Cond" panose="020B0504020202020204" pitchFamily="34" charset="0"/>
              </a:rPr>
              <a:t> transaction data can add:</a:t>
            </a:r>
            <a:endParaRPr lang="en-US" sz="1400" b="1" dirty="0">
              <a:latin typeface="Arial Nova Cond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E2455-E7D2-16BA-643A-512CEB3D0EAD}"/>
              </a:ext>
            </a:extLst>
          </p:cNvPr>
          <p:cNvSpPr txBox="1"/>
          <p:nvPr/>
        </p:nvSpPr>
        <p:spPr>
          <a:xfrm>
            <a:off x="479998" y="3589426"/>
            <a:ext cx="620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 Nova Cond" panose="020B0504020202020204" pitchFamily="34" charset="0"/>
              </a:rPr>
              <a:t>What other datasets can add:</a:t>
            </a:r>
            <a:endParaRPr lang="en-US" sz="1400" b="1" dirty="0">
              <a:latin typeface="Arial Nova Cond" panose="020B05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164AEC8-7D09-9423-2F74-36066F769C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3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E0C72-8003-6844-29B2-F11A3ECF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144565CA-CD0F-8BC2-C94B-FFD74FAB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67400"/>
            <a:ext cx="2667000" cy="99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684EFF50-6C2E-76F7-B212-3B1A12FB5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312" y="6352340"/>
          <a:ext cx="1763688" cy="50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3106400" imgH="3752850" progId="Photoshop.Image.6">
                  <p:embed/>
                </p:oleObj>
              </mc:Choice>
              <mc:Fallback>
                <p:oleObj name="Image" r:id="rId3" imgW="13106400" imgH="3752850" progId="Photoshop.Image.6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CC6A0495-0472-2B33-B7A7-6A7311FF7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6352340"/>
                        <a:ext cx="1763688" cy="505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FF2FDDC-B0E7-89E0-9E36-DC9546F5D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22" y="455476"/>
            <a:ext cx="2565994" cy="216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93EEFE-7726-3359-EA0E-F35FC2A52FA4}"/>
              </a:ext>
            </a:extLst>
          </p:cNvPr>
          <p:cNvSpPr/>
          <p:nvPr/>
        </p:nvSpPr>
        <p:spPr>
          <a:xfrm>
            <a:off x="0" y="836712"/>
            <a:ext cx="9144000" cy="144016"/>
          </a:xfrm>
          <a:prstGeom prst="rect">
            <a:avLst/>
          </a:prstGeom>
          <a:solidFill>
            <a:srgbClr val="FFCB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B0485-D63D-99F1-FE0B-615389DB023A}"/>
              </a:ext>
            </a:extLst>
          </p:cNvPr>
          <p:cNvSpPr txBox="1"/>
          <p:nvPr/>
        </p:nvSpPr>
        <p:spPr>
          <a:xfrm>
            <a:off x="179512" y="332656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Arial Nova Cond" panose="020B0504020202020204" pitchFamily="34" charset="0"/>
                <a:ea typeface="Apple Symbols" panose="02000000000000000000" pitchFamily="2" charset="-79"/>
              </a:rPr>
              <a:t>Recommendations and Limitations</a:t>
            </a:r>
            <a:endParaRPr lang="en-US" sz="1800" b="1" dirty="0">
              <a:latin typeface="Arial Nova Cond" panose="020B0504020202020204" pitchFamily="34" charset="0"/>
              <a:ea typeface="Apple Symbols" panose="02000000000000000000" pitchFamily="2" charset="-79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427F2DE-078B-0659-3362-DBB7A17C0A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2362" y="6469033"/>
            <a:ext cx="1069132" cy="2804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8FD2D9-1AE4-ACE9-F920-26E13F205838}"/>
              </a:ext>
            </a:extLst>
          </p:cNvPr>
          <p:cNvSpPr txBox="1"/>
          <p:nvPr/>
        </p:nvSpPr>
        <p:spPr>
          <a:xfrm>
            <a:off x="323528" y="1051859"/>
            <a:ext cx="620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 Nova Cond" panose="020B0504020202020204" pitchFamily="34" charset="0"/>
              </a:rPr>
              <a:t>Recommendations:</a:t>
            </a:r>
            <a:endParaRPr lang="en-US" sz="1400" b="1" dirty="0">
              <a:latin typeface="Arial Nova Cond" panose="020B05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918371-CA06-99EF-A48A-BCDF8C3615EB}"/>
              </a:ext>
            </a:extLst>
          </p:cNvPr>
          <p:cNvSpPr txBox="1"/>
          <p:nvPr/>
        </p:nvSpPr>
        <p:spPr>
          <a:xfrm>
            <a:off x="323528" y="4428075"/>
            <a:ext cx="620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Arial Nova Cond" panose="020B0504020202020204" pitchFamily="34" charset="0"/>
              </a:rPr>
              <a:t>Limitations</a:t>
            </a:r>
            <a:endParaRPr lang="en-US" sz="1400" b="1" dirty="0">
              <a:latin typeface="Arial Nova Cond" panose="020B05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884AC58-CE2F-6AE5-DF17-DA6F6783B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999014"/>
              </p:ext>
            </p:extLst>
          </p:nvPr>
        </p:nvGraphicFramePr>
        <p:xfrm>
          <a:off x="323528" y="4918092"/>
          <a:ext cx="7776864" cy="1249680"/>
        </p:xfrm>
        <a:graphic>
          <a:graphicData uri="http://schemas.openxmlformats.org/drawingml/2006/table">
            <a:tbl>
              <a:tblPr/>
              <a:tblGrid>
                <a:gridCol w="2594272">
                  <a:extLst>
                    <a:ext uri="{9D8B030D-6E8A-4147-A177-3AD203B41FA5}">
                      <a16:colId xmlns:a16="http://schemas.microsoft.com/office/drawing/2014/main" val="878009797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1322462571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409569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latin typeface="Arial Nova Cond" panose="020B0504020202020204" pitchFamily="34" charset="0"/>
                        </a:rPr>
                        <a:t>Data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b="1" i="0" kern="1200" dirty="0">
                          <a:solidFill>
                            <a:schemeClr val="tx1"/>
                          </a:solidFill>
                          <a:latin typeface="Arial Nova Cond" panose="020B0504020202020204" pitchFamily="34" charset="0"/>
                          <a:ea typeface="+mn-ea"/>
                          <a:cs typeface="+mn-cs"/>
                        </a:rPr>
                        <a:t>Human &amp; Behavioural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b="1" i="0" kern="1200" dirty="0">
                          <a:solidFill>
                            <a:schemeClr val="tx1"/>
                          </a:solidFill>
                          <a:latin typeface="Arial Nova Cond" panose="020B0504020202020204" pitchFamily="34" charset="0"/>
                          <a:ea typeface="+mn-ea"/>
                          <a:cs typeface="+mn-cs"/>
                        </a:rPr>
                        <a:t>Time &amp; Operational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3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Static Snapshot: does not capture seasonal variations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Inertia and Habit: Even if a new bus route is data-justified, human </a:t>
                      </a:r>
                      <a:r>
                        <a:rPr lang="en-GB" sz="1000" b="0" i="0" kern="120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behavior</a:t>
                      </a: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is slow to change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Infrastructure Lead Times: the procurement of new buses, driver recruitment, and physical stop installations can take months or years, during which time commuter patterns may have shifted again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404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7D34EC1-20A1-BFF9-3CE2-0FD9EB72D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610220"/>
              </p:ext>
            </p:extLst>
          </p:nvPr>
        </p:nvGraphicFramePr>
        <p:xfrm>
          <a:off x="323528" y="1446267"/>
          <a:ext cx="7776864" cy="2804160"/>
        </p:xfrm>
        <a:graphic>
          <a:graphicData uri="http://schemas.openxmlformats.org/drawingml/2006/table">
            <a:tbl>
              <a:tblPr/>
              <a:tblGrid>
                <a:gridCol w="2594272">
                  <a:extLst>
                    <a:ext uri="{9D8B030D-6E8A-4147-A177-3AD203B41FA5}">
                      <a16:colId xmlns:a16="http://schemas.microsoft.com/office/drawing/2014/main" val="878009797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1322462571"/>
                    </a:ext>
                  </a:extLst>
                </a:gridCol>
                <a:gridCol w="2591296">
                  <a:extLst>
                    <a:ext uri="{9D8B030D-6E8A-4147-A177-3AD203B41FA5}">
                      <a16:colId xmlns:a16="http://schemas.microsoft.com/office/drawing/2014/main" val="4095695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000" b="1" i="0" dirty="0">
                          <a:latin typeface="Arial Nova Cond" panose="020B0504020202020204" pitchFamily="34" charset="0"/>
                        </a:rPr>
                        <a:t>Phase 1: Validation &amp; Precision (Immediate)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b="1" i="0" kern="1200" dirty="0">
                          <a:solidFill>
                            <a:schemeClr val="tx1"/>
                          </a:solidFill>
                          <a:latin typeface="Arial Nova Cond" panose="020B0504020202020204" pitchFamily="34" charset="0"/>
                          <a:ea typeface="+mn-ea"/>
                          <a:cs typeface="+mn-cs"/>
                        </a:rPr>
                        <a:t>Phase 2: Targeted Pilot Programs (Short-Term)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b="1" i="0" kern="1200" dirty="0">
                          <a:solidFill>
                            <a:schemeClr val="tx1"/>
                          </a:solidFill>
                          <a:latin typeface="Arial Nova Cond" panose="020B0504020202020204" pitchFamily="34" charset="0"/>
                          <a:ea typeface="+mn-ea"/>
                          <a:cs typeface="+mn-cs"/>
                        </a:rPr>
                        <a:t>Phase 3: Strategic Network Evolution (Medium-Term)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53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Mode Substitution Analysis</a:t>
                      </a:r>
                      <a:r>
                        <a:rPr lang="en-GB" sz="1000" b="0" i="0" dirty="0">
                          <a:latin typeface="Arial Nova" panose="020B0504020202020204" pitchFamily="34" charset="0"/>
                        </a:rPr>
                        <a:t>: Use toll and fuel transaction data to validate "willingness to switch"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High-Potential Express Trials: Launch 3-month express bus pilots with some incentives for high-growth corridors to capture car-commuter volumes.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Holistic Data Integration: Merge Opal tap-on data with </a:t>
                      </a:r>
                      <a:r>
                        <a:rPr lang="en-GB" sz="1000" b="0" i="0" kern="120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CBAiQ</a:t>
                      </a: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merchant spending to identify "Network Leakage”, where people are active but public transport is not their chosen mode.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11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Temporal Demand Mapping: Use CBA transaction timestamps to identify the exact hours of the "new peak" in high-WFH for optimized scheduling.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Micro-Mobility Feeders: Trial local shuttles in "Professional Hubs"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Predictive Infrastructure: Use building approvals and </a:t>
                      </a:r>
                      <a:r>
                        <a:rPr lang="en-GB" sz="1000" b="0" i="0" kern="1200" dirty="0" err="1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CBAiQ</a:t>
                      </a: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residential growth data to pre-emptively design routes for emerging South West development corridors.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3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Persona Segmentation: Apply de-identified spending patterns to differentiate service needs between "Hybrid Professionals" and "Essential Service Workers."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b="0" i="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b="0" i="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643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773908"/>
      </p:ext>
    </p:extLst>
  </p:cSld>
  <p:clrMapOvr>
    <a:masterClrMapping/>
  </p:clrMapOvr>
</p:sld>
</file>

<file path=ppt/theme/theme1.xml><?xml version="1.0" encoding="utf-8"?>
<a:theme xmlns:a="http://schemas.openxmlformats.org/drawingml/2006/main" name="which new bank">
  <a:themeElements>
    <a:clrScheme name="which new ban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which new b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which new ban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ich new ban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ch new ban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ch new ban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ch new ban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ch new ban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ch new ban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Settings\scunliffe\Application Data\Microsoft\Templates\which new bank.pot</Template>
  <TotalTime>6041</TotalTime>
  <Words>1103</Words>
  <Application>Microsoft Macintosh PowerPoint</Application>
  <PresentationFormat>On-screen Show (4:3)</PresentationFormat>
  <Paragraphs>90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Nova</vt:lpstr>
      <vt:lpstr>Arial Nova Cond</vt:lpstr>
      <vt:lpstr>Times New Roman</vt:lpstr>
      <vt:lpstr>which new bank</vt:lpstr>
      <vt:lpstr>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CCCLX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scunliffe</dc:creator>
  <cp:lastModifiedBy>Quoc Tran</cp:lastModifiedBy>
  <cp:revision>101</cp:revision>
  <cp:lastPrinted>2003-09-19T05:58:45Z</cp:lastPrinted>
  <dcterms:created xsi:type="dcterms:W3CDTF">2003-09-18T03:56:04Z</dcterms:created>
  <dcterms:modified xsi:type="dcterms:W3CDTF">2026-01-19T04:33:43Z</dcterms:modified>
</cp:coreProperties>
</file>