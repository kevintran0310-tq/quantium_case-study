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handoutMasterIdLst>
    <p:handoutMasterId r:id="rId9"/>
  </p:handoutMasterIdLst>
  <p:sldIdLst>
    <p:sldId id="261" r:id="rId2"/>
    <p:sldId id="263" r:id="rId3"/>
    <p:sldId id="264" r:id="rId4"/>
    <p:sldId id="258" r:id="rId5"/>
    <p:sldId id="259" r:id="rId6"/>
    <p:sldId id="260" r:id="rId7"/>
  </p:sldIdLst>
  <p:sldSz cx="9144000" cy="6858000" type="screen4x3"/>
  <p:notesSz cx="6781800" cy="9918700"/>
  <p:defaultTextStyle>
    <a:defPPr>
      <a:defRPr lang="en-AU"/>
    </a:defPPr>
    <a:lvl1pPr algn="l" rtl="0" fontAlgn="base">
      <a:spcBef>
        <a:spcPct val="0"/>
      </a:spcBef>
      <a:spcAft>
        <a:spcPct val="0"/>
      </a:spcAft>
      <a:defRPr sz="2400" kern="1200">
        <a:solidFill>
          <a:schemeClr val="tx1"/>
        </a:solidFill>
        <a:latin typeface="Times New Roman" panose="02020603050405020304" pitchFamily="18" charset="0"/>
        <a:ea typeface="+mn-ea"/>
        <a:cs typeface="+mn-cs"/>
      </a:defRPr>
    </a:lvl1pPr>
    <a:lvl2pPr marL="457200" algn="l" rtl="0" fontAlgn="base">
      <a:spcBef>
        <a:spcPct val="0"/>
      </a:spcBef>
      <a:spcAft>
        <a:spcPct val="0"/>
      </a:spcAft>
      <a:defRPr sz="2400" kern="1200">
        <a:solidFill>
          <a:schemeClr val="tx1"/>
        </a:solidFill>
        <a:latin typeface="Times New Roman" panose="02020603050405020304" pitchFamily="18" charset="0"/>
        <a:ea typeface="+mn-ea"/>
        <a:cs typeface="+mn-cs"/>
      </a:defRPr>
    </a:lvl2pPr>
    <a:lvl3pPr marL="914400" algn="l" rtl="0" fontAlgn="base">
      <a:spcBef>
        <a:spcPct val="0"/>
      </a:spcBef>
      <a:spcAft>
        <a:spcPct val="0"/>
      </a:spcAft>
      <a:defRPr sz="2400" kern="1200">
        <a:solidFill>
          <a:schemeClr val="tx1"/>
        </a:solidFill>
        <a:latin typeface="Times New Roman" panose="02020603050405020304" pitchFamily="18" charset="0"/>
        <a:ea typeface="+mn-ea"/>
        <a:cs typeface="+mn-cs"/>
      </a:defRPr>
    </a:lvl3pPr>
    <a:lvl4pPr marL="1371600" algn="l" rtl="0" fontAlgn="base">
      <a:spcBef>
        <a:spcPct val="0"/>
      </a:spcBef>
      <a:spcAft>
        <a:spcPct val="0"/>
      </a:spcAft>
      <a:defRPr sz="2400" kern="1200">
        <a:solidFill>
          <a:schemeClr val="tx1"/>
        </a:solidFill>
        <a:latin typeface="Times New Roman" panose="02020603050405020304" pitchFamily="18" charset="0"/>
        <a:ea typeface="+mn-ea"/>
        <a:cs typeface="+mn-cs"/>
      </a:defRPr>
    </a:lvl4pPr>
    <a:lvl5pPr marL="1828800" algn="l" rtl="0" fontAlgn="base">
      <a:spcBef>
        <a:spcPct val="0"/>
      </a:spcBef>
      <a:spcAft>
        <a:spcPct val="0"/>
      </a:spcAft>
      <a:defRPr sz="2400" kern="1200">
        <a:solidFill>
          <a:schemeClr val="tx1"/>
        </a:solidFill>
        <a:latin typeface="Times New Roman" panose="02020603050405020304" pitchFamily="18" charset="0"/>
        <a:ea typeface="+mn-ea"/>
        <a:cs typeface="+mn-cs"/>
      </a:defRPr>
    </a:lvl5pPr>
    <a:lvl6pPr marL="2286000" algn="l" defTabSz="914400" rtl="0" eaLnBrk="1" latinLnBrk="0" hangingPunct="1">
      <a:defRPr sz="2400" kern="1200">
        <a:solidFill>
          <a:schemeClr val="tx1"/>
        </a:solidFill>
        <a:latin typeface="Times New Roman" panose="02020603050405020304" pitchFamily="18" charset="0"/>
        <a:ea typeface="+mn-ea"/>
        <a:cs typeface="+mn-cs"/>
      </a:defRPr>
    </a:lvl6pPr>
    <a:lvl7pPr marL="2743200" algn="l" defTabSz="914400" rtl="0" eaLnBrk="1" latinLnBrk="0" hangingPunct="1">
      <a:defRPr sz="2400" kern="1200">
        <a:solidFill>
          <a:schemeClr val="tx1"/>
        </a:solidFill>
        <a:latin typeface="Times New Roman" panose="02020603050405020304" pitchFamily="18" charset="0"/>
        <a:ea typeface="+mn-ea"/>
        <a:cs typeface="+mn-cs"/>
      </a:defRPr>
    </a:lvl7pPr>
    <a:lvl8pPr marL="3200400" algn="l" defTabSz="914400" rtl="0" eaLnBrk="1" latinLnBrk="0" hangingPunct="1">
      <a:defRPr sz="2400" kern="1200">
        <a:solidFill>
          <a:schemeClr val="tx1"/>
        </a:solidFill>
        <a:latin typeface="Times New Roman" panose="02020603050405020304" pitchFamily="18" charset="0"/>
        <a:ea typeface="+mn-ea"/>
        <a:cs typeface="+mn-cs"/>
      </a:defRPr>
    </a:lvl8pPr>
    <a:lvl9pPr marL="3657600" algn="l" defTabSz="914400" rtl="0" eaLnBrk="1" latinLnBrk="0" hangingPunct="1">
      <a:defRPr sz="2400"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24">
          <p15:clr>
            <a:srgbClr val="A4A3A4"/>
          </p15:clr>
        </p15:guide>
        <p15:guide id="2" pos="213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310"/>
    <a:srgbClr val="FFD100"/>
    <a:srgbClr val="FFF60A"/>
    <a:srgbClr val="FFCB0A"/>
    <a:srgbClr val="FFE993"/>
    <a:srgbClr val="03457A"/>
    <a:srgbClr val="045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47"/>
    <p:restoredTop sz="82182"/>
  </p:normalViewPr>
  <p:slideViewPr>
    <p:cSldViewPr>
      <p:cViewPr varScale="1">
        <p:scale>
          <a:sx n="102" d="100"/>
          <a:sy n="102" d="100"/>
        </p:scale>
        <p:origin x="904" y="184"/>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p:cViewPr>
        <p:scale>
          <a:sx n="75" d="100"/>
          <a:sy n="75" d="100"/>
        </p:scale>
        <p:origin x="-1248" y="1554"/>
      </p:cViewPr>
      <p:guideLst>
        <p:guide orient="horz" pos="3124"/>
        <p:guide pos="2136"/>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7826" name="Rectangle 2">
            <a:extLst>
              <a:ext uri="{FF2B5EF4-FFF2-40B4-BE49-F238E27FC236}">
                <a16:creationId xmlns:a16="http://schemas.microsoft.com/office/drawing/2014/main" id="{2686BF75-5637-8F21-F515-6F6578559CD2}"/>
              </a:ext>
            </a:extLst>
          </p:cNvPr>
          <p:cNvSpPr>
            <a:spLocks noGrp="1" noChangeArrowheads="1"/>
          </p:cNvSpPr>
          <p:nvPr>
            <p:ph type="hdr" sz="quarter"/>
          </p:nvPr>
        </p:nvSpPr>
        <p:spPr bwMode="auto">
          <a:xfrm>
            <a:off x="0" y="0"/>
            <a:ext cx="2938463"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vl1pPr>
          </a:lstStyle>
          <a:p>
            <a:endParaRPr lang="en-AU" altLang="en-US"/>
          </a:p>
        </p:txBody>
      </p:sp>
      <p:sp>
        <p:nvSpPr>
          <p:cNvPr id="77827" name="Rectangle 3">
            <a:extLst>
              <a:ext uri="{FF2B5EF4-FFF2-40B4-BE49-F238E27FC236}">
                <a16:creationId xmlns:a16="http://schemas.microsoft.com/office/drawing/2014/main" id="{9C5B4F0F-370F-F511-8A36-38C0EFEB51B7}"/>
              </a:ext>
            </a:extLst>
          </p:cNvPr>
          <p:cNvSpPr>
            <a:spLocks noGrp="1" noChangeArrowheads="1"/>
          </p:cNvSpPr>
          <p:nvPr>
            <p:ph type="dt" sz="quarter" idx="1"/>
          </p:nvPr>
        </p:nvSpPr>
        <p:spPr bwMode="auto">
          <a:xfrm>
            <a:off x="3843338" y="0"/>
            <a:ext cx="2938462"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endParaRPr lang="en-AU" altLang="en-US"/>
          </a:p>
        </p:txBody>
      </p:sp>
      <p:sp>
        <p:nvSpPr>
          <p:cNvPr id="77828" name="Rectangle 4">
            <a:extLst>
              <a:ext uri="{FF2B5EF4-FFF2-40B4-BE49-F238E27FC236}">
                <a16:creationId xmlns:a16="http://schemas.microsoft.com/office/drawing/2014/main" id="{1739811F-329A-E7D4-A479-50EE8094B74D}"/>
              </a:ext>
            </a:extLst>
          </p:cNvPr>
          <p:cNvSpPr>
            <a:spLocks noGrp="1" noChangeArrowheads="1"/>
          </p:cNvSpPr>
          <p:nvPr>
            <p:ph type="ftr" sz="quarter" idx="2"/>
          </p:nvPr>
        </p:nvSpPr>
        <p:spPr bwMode="auto">
          <a:xfrm>
            <a:off x="0" y="9423400"/>
            <a:ext cx="2938463"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vl1pPr>
          </a:lstStyle>
          <a:p>
            <a:endParaRPr lang="en-AU" altLang="en-US"/>
          </a:p>
        </p:txBody>
      </p:sp>
      <p:sp>
        <p:nvSpPr>
          <p:cNvPr id="77829" name="Rectangle 5">
            <a:extLst>
              <a:ext uri="{FF2B5EF4-FFF2-40B4-BE49-F238E27FC236}">
                <a16:creationId xmlns:a16="http://schemas.microsoft.com/office/drawing/2014/main" id="{63EF2141-DAFC-CB1B-97A5-F40AFBE2F14B}"/>
              </a:ext>
            </a:extLst>
          </p:cNvPr>
          <p:cNvSpPr>
            <a:spLocks noGrp="1" noChangeArrowheads="1"/>
          </p:cNvSpPr>
          <p:nvPr>
            <p:ph type="sldNum" sz="quarter" idx="3"/>
          </p:nvPr>
        </p:nvSpPr>
        <p:spPr bwMode="auto">
          <a:xfrm>
            <a:off x="3843338" y="9423400"/>
            <a:ext cx="2938462"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78DD61A0-C925-C248-AC96-04D4D185EAF6}" type="slidenum">
              <a:rPr lang="en-AU" altLang="en-US"/>
              <a:pPr/>
              <a:t>‹#›</a:t>
            </a:fld>
            <a:endParaRPr lang="en-AU"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4BF0E2EA-BC96-54B5-40FE-DE7F7D4D86EB}"/>
              </a:ext>
            </a:extLst>
          </p:cNvPr>
          <p:cNvSpPr>
            <a:spLocks noGrp="1" noChangeArrowheads="1"/>
          </p:cNvSpPr>
          <p:nvPr>
            <p:ph type="hdr" sz="quarter"/>
          </p:nvPr>
        </p:nvSpPr>
        <p:spPr bwMode="auto">
          <a:xfrm>
            <a:off x="0" y="0"/>
            <a:ext cx="2938463"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vl1pPr>
          </a:lstStyle>
          <a:p>
            <a:endParaRPr lang="en-US" altLang="en-US"/>
          </a:p>
        </p:txBody>
      </p:sp>
      <p:sp>
        <p:nvSpPr>
          <p:cNvPr id="34819" name="Rectangle 3">
            <a:extLst>
              <a:ext uri="{FF2B5EF4-FFF2-40B4-BE49-F238E27FC236}">
                <a16:creationId xmlns:a16="http://schemas.microsoft.com/office/drawing/2014/main" id="{21F8DCE7-ED84-8841-E22F-4C142C0CB04A}"/>
              </a:ext>
            </a:extLst>
          </p:cNvPr>
          <p:cNvSpPr>
            <a:spLocks noGrp="1" noChangeArrowheads="1"/>
          </p:cNvSpPr>
          <p:nvPr>
            <p:ph type="dt" idx="1"/>
          </p:nvPr>
        </p:nvSpPr>
        <p:spPr bwMode="auto">
          <a:xfrm>
            <a:off x="3843338" y="0"/>
            <a:ext cx="2938462"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endParaRPr lang="en-US" altLang="en-US"/>
          </a:p>
        </p:txBody>
      </p:sp>
      <p:sp>
        <p:nvSpPr>
          <p:cNvPr id="34820" name="Rectangle 4">
            <a:extLst>
              <a:ext uri="{FF2B5EF4-FFF2-40B4-BE49-F238E27FC236}">
                <a16:creationId xmlns:a16="http://schemas.microsoft.com/office/drawing/2014/main" id="{9A9F5BDE-84E8-3BEF-67AD-D25406F14A4B}"/>
              </a:ext>
            </a:extLst>
          </p:cNvPr>
          <p:cNvSpPr>
            <a:spLocks noChangeArrowheads="1" noTextEdit="1"/>
          </p:cNvSpPr>
          <p:nvPr>
            <p:ph type="sldImg" idx="2"/>
          </p:nvPr>
        </p:nvSpPr>
        <p:spPr bwMode="auto">
          <a:xfrm>
            <a:off x="911225" y="744538"/>
            <a:ext cx="4959350" cy="3719512"/>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4821" name="Rectangle 5">
            <a:extLst>
              <a:ext uri="{FF2B5EF4-FFF2-40B4-BE49-F238E27FC236}">
                <a16:creationId xmlns:a16="http://schemas.microsoft.com/office/drawing/2014/main" id="{A2EC1A66-561C-5406-E121-9A28994CA98E}"/>
              </a:ext>
            </a:extLst>
          </p:cNvPr>
          <p:cNvSpPr>
            <a:spLocks noGrp="1" noChangeArrowheads="1"/>
          </p:cNvSpPr>
          <p:nvPr>
            <p:ph type="body" sz="quarter" idx="3"/>
          </p:nvPr>
        </p:nvSpPr>
        <p:spPr bwMode="auto">
          <a:xfrm>
            <a:off x="904875" y="4711700"/>
            <a:ext cx="4972050" cy="4462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34822" name="Rectangle 6">
            <a:extLst>
              <a:ext uri="{FF2B5EF4-FFF2-40B4-BE49-F238E27FC236}">
                <a16:creationId xmlns:a16="http://schemas.microsoft.com/office/drawing/2014/main" id="{1E8574BA-D510-E611-E740-C7B65E205817}"/>
              </a:ext>
            </a:extLst>
          </p:cNvPr>
          <p:cNvSpPr>
            <a:spLocks noGrp="1" noChangeArrowheads="1"/>
          </p:cNvSpPr>
          <p:nvPr>
            <p:ph type="ftr" sz="quarter" idx="4"/>
          </p:nvPr>
        </p:nvSpPr>
        <p:spPr bwMode="auto">
          <a:xfrm>
            <a:off x="0" y="9423400"/>
            <a:ext cx="2938463"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vl1pPr>
          </a:lstStyle>
          <a:p>
            <a:endParaRPr lang="en-US" altLang="en-US"/>
          </a:p>
        </p:txBody>
      </p:sp>
      <p:sp>
        <p:nvSpPr>
          <p:cNvPr id="34823" name="Rectangle 7">
            <a:extLst>
              <a:ext uri="{FF2B5EF4-FFF2-40B4-BE49-F238E27FC236}">
                <a16:creationId xmlns:a16="http://schemas.microsoft.com/office/drawing/2014/main" id="{F519700C-2293-2D27-542A-A144BF5CC90E}"/>
              </a:ext>
            </a:extLst>
          </p:cNvPr>
          <p:cNvSpPr>
            <a:spLocks noGrp="1" noChangeArrowheads="1"/>
          </p:cNvSpPr>
          <p:nvPr>
            <p:ph type="sldNum" sz="quarter" idx="5"/>
          </p:nvPr>
        </p:nvSpPr>
        <p:spPr bwMode="auto">
          <a:xfrm>
            <a:off x="3843338" y="9423400"/>
            <a:ext cx="2938462"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9F748E4E-02AB-DC48-A4D7-BDFD143A95FA}"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47657-B823-ADA6-AF8F-4F6D73C3074D}"/>
            </a:ext>
          </a:extLst>
        </p:cNvPr>
        <p:cNvGrpSpPr/>
        <p:nvPr/>
      </p:nvGrpSpPr>
      <p:grpSpPr>
        <a:xfrm>
          <a:off x="0" y="0"/>
          <a:ext cx="0" cy="0"/>
          <a:chOff x="0" y="0"/>
          <a:chExt cx="0" cy="0"/>
        </a:xfrm>
      </p:grpSpPr>
      <p:sp>
        <p:nvSpPr>
          <p:cNvPr id="5" name="Rectangle 7">
            <a:extLst>
              <a:ext uri="{FF2B5EF4-FFF2-40B4-BE49-F238E27FC236}">
                <a16:creationId xmlns:a16="http://schemas.microsoft.com/office/drawing/2014/main" id="{78C9A48F-E61F-0C92-52B2-4E666634E152}"/>
              </a:ext>
            </a:extLst>
          </p:cNvPr>
          <p:cNvSpPr>
            <a:spLocks noGrp="1" noChangeArrowheads="1"/>
          </p:cNvSpPr>
          <p:nvPr>
            <p:ph type="sldNum" sz="quarter" idx="5"/>
          </p:nvPr>
        </p:nvSpPr>
        <p:spPr>
          <a:ln/>
        </p:spPr>
        <p:txBody>
          <a:bodyPr/>
          <a:lstStyle/>
          <a:p>
            <a:fld id="{342896C4-A8E4-6C4E-A3FD-00DBF7B7A527}" type="slidenum">
              <a:rPr lang="en-US" altLang="en-US"/>
              <a:pPr/>
              <a:t>1</a:t>
            </a:fld>
            <a:endParaRPr lang="en-US" altLang="en-US"/>
          </a:p>
        </p:txBody>
      </p:sp>
      <p:sp>
        <p:nvSpPr>
          <p:cNvPr id="36866" name="Rectangle 2">
            <a:extLst>
              <a:ext uri="{FF2B5EF4-FFF2-40B4-BE49-F238E27FC236}">
                <a16:creationId xmlns:a16="http://schemas.microsoft.com/office/drawing/2014/main" id="{5EBAA1FC-2309-2E87-2670-B24D3FADD818}"/>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3F6703F3-9E81-6FAE-96CE-EFE4464430DD}"/>
              </a:ext>
            </a:extLst>
          </p:cNvPr>
          <p:cNvSpPr>
            <a:spLocks noGrp="1" noChangeArrowheads="1"/>
          </p:cNvSpPr>
          <p:nvPr>
            <p:ph type="body" idx="1"/>
          </p:nvPr>
        </p:nvSpPr>
        <p:spPr/>
        <p:txBody>
          <a:bodyPr/>
          <a:lstStyle/>
          <a:p>
            <a:r>
              <a:rPr lang="en-GB" dirty="0"/>
              <a:t>Hi my name is Kevin, and today I’ll present the NSW Transport Planning project. To understand our current challenge, we have to look at the massive disruption in how people move. As we can see, we are facing a situation where the Work-From-Home (WFH) rate increased five-fold between 2011 and 2021, skyrocketing from 6.4% to 32%. This is not just a temporary shift; it represents a permanent change in the 'rhythm' of our state. The core issue is that our current transport timetables and service schedules were built for a world before WFH shift. They are designed for a 'fixed' demand pattern that no longer exists. Because demand is now dictated by 'Work Flexibility,' our traditional models have become inefficient. Our goal is to move away from these legacy schedules and optimize our network to meet current and anticipated demand. By using data-driven insights, we can identify exactly where the gaps are between our existing services and the new reality of how NSW residents actually travel.</a:t>
            </a:r>
          </a:p>
          <a:p>
            <a:r>
              <a:rPr lang="en-GB" dirty="0"/>
              <a:t>To do this, I’ve conducted an extensive analysis of ABS data across two key time periods, specifically focusing on the relationship between where people live, where they work, and the modes of transport they choose. I did some data preprocessing steps by filtering out non-relevant answers like not working, no fixed address, or off-shore address. I’ve already documented these data and happy to discuss further if you have any question</a:t>
            </a:r>
          </a:p>
          <a:p>
            <a:r>
              <a:rPr lang="en-GB" dirty="0"/>
              <a:t>My analysis focuses on three key questions: the overall usage trends by transport types, the impact of WFH on transport planning, and where to prioritize new buses. Finally, I’ll discuss how </a:t>
            </a:r>
            <a:r>
              <a:rPr lang="en-GB" dirty="0" err="1"/>
              <a:t>CommBankiQ</a:t>
            </a:r>
            <a:r>
              <a:rPr lang="en-GB" dirty="0"/>
              <a:t> data can further supports the analysis of this project. </a:t>
            </a:r>
            <a:endParaRPr lang="en-US" altLang="en-US" dirty="0">
              <a:latin typeface="Arial" panose="020B0604020202020204" pitchFamily="34" charset="0"/>
            </a:endParaRPr>
          </a:p>
        </p:txBody>
      </p:sp>
    </p:spTree>
    <p:extLst>
      <p:ext uri="{BB962C8B-B14F-4D97-AF65-F5344CB8AC3E}">
        <p14:creationId xmlns:p14="http://schemas.microsoft.com/office/powerpoint/2010/main" val="12828595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6731C-C64B-DD23-D484-F788EC21D91C}"/>
            </a:ext>
          </a:extLst>
        </p:cNvPr>
        <p:cNvGrpSpPr/>
        <p:nvPr/>
      </p:nvGrpSpPr>
      <p:grpSpPr>
        <a:xfrm>
          <a:off x="0" y="0"/>
          <a:ext cx="0" cy="0"/>
          <a:chOff x="0" y="0"/>
          <a:chExt cx="0" cy="0"/>
        </a:xfrm>
      </p:grpSpPr>
      <p:sp>
        <p:nvSpPr>
          <p:cNvPr id="5" name="Rectangle 7">
            <a:extLst>
              <a:ext uri="{FF2B5EF4-FFF2-40B4-BE49-F238E27FC236}">
                <a16:creationId xmlns:a16="http://schemas.microsoft.com/office/drawing/2014/main" id="{70707552-01D0-10D0-63F6-2CA073CDEF72}"/>
              </a:ext>
            </a:extLst>
          </p:cNvPr>
          <p:cNvSpPr>
            <a:spLocks noGrp="1" noChangeArrowheads="1"/>
          </p:cNvSpPr>
          <p:nvPr>
            <p:ph type="sldNum" sz="quarter" idx="5"/>
          </p:nvPr>
        </p:nvSpPr>
        <p:spPr>
          <a:ln/>
        </p:spPr>
        <p:txBody>
          <a:bodyPr/>
          <a:lstStyle/>
          <a:p>
            <a:fld id="{342896C4-A8E4-6C4E-A3FD-00DBF7B7A527}" type="slidenum">
              <a:rPr lang="en-US" altLang="en-US"/>
              <a:pPr/>
              <a:t>2</a:t>
            </a:fld>
            <a:endParaRPr lang="en-US" altLang="en-US"/>
          </a:p>
        </p:txBody>
      </p:sp>
      <p:sp>
        <p:nvSpPr>
          <p:cNvPr id="36866" name="Rectangle 2">
            <a:extLst>
              <a:ext uri="{FF2B5EF4-FFF2-40B4-BE49-F238E27FC236}">
                <a16:creationId xmlns:a16="http://schemas.microsoft.com/office/drawing/2014/main" id="{D8D72662-AFB7-A7A7-06AA-CFF71B1D7D35}"/>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7CFB3A72-6695-274C-57A7-0AE6120D386B}"/>
              </a:ext>
            </a:extLst>
          </p:cNvPr>
          <p:cNvSpPr>
            <a:spLocks noGrp="1" noChangeArrowheads="1"/>
          </p:cNvSpPr>
          <p:nvPr>
            <p:ph type="body" idx="1"/>
          </p:nvPr>
        </p:nvSpPr>
        <p:spPr/>
        <p:txBody>
          <a:bodyPr/>
          <a:lstStyle/>
          <a:p>
            <a:pPr>
              <a:buNone/>
            </a:pPr>
            <a:r>
              <a:rPr lang="en-GB" i="1" dirty="0"/>
              <a:t>I’ll start with overall usage trends by transport type.</a:t>
            </a:r>
            <a:endParaRPr lang="en-GB" dirty="0"/>
          </a:p>
          <a:p>
            <a:pPr>
              <a:buNone/>
            </a:pPr>
            <a:r>
              <a:rPr lang="en-GB" i="1" dirty="0"/>
              <a:t>Private transport is still dominant, but it has declined sharply — from roughly 83 percent in 2011 to about 55 percent in 2021.</a:t>
            </a:r>
            <a:endParaRPr lang="en-GB" dirty="0"/>
          </a:p>
          <a:p>
            <a:r>
              <a:rPr lang="en-GB" i="1" dirty="0"/>
              <a:t>At the same time, working from home increased from around 5.3% to over 30% between 2016 and 2021. In 2021, the number of people working from home accounts for more than 1/3 of the total workers. </a:t>
            </a:r>
            <a:r>
              <a:rPr lang="en-GB" dirty="0"/>
              <a:t>When we zoom in at people who are still travelling to work in 2021 by excluding WFH people, the number of private vehicle usage actually increased to nearly 87 percent. So what’s really happening is people are travelling less, and they switch more to private vehicles when they travel. </a:t>
            </a:r>
          </a:p>
          <a:p>
            <a:r>
              <a:rPr lang="en-GB" dirty="0"/>
              <a:t>Now zooming in to the residence location, we can see nearly half of people living in the centre of Sydney are now working from home and half of people are using private transport for commuting, while most of people living in regional areas are still working on-site and they mostly use private vehicles for travelling. The public transport infrastructure in these areas may be limited. This leads us to 2 different planning problem. In the centre, we must plan toward all-day, local and orbital frequency instead of just peak hour planning because demand still exists but it’s less predictable as before. They needs public transport that fits modern lifestyles — services that run more consistently throughout the day and connect suburbs to CBD and suburbs to each other. In regional NSW, on the other hand, there are many areas with very limited public transport, so the priority here is providing reliable routes that connect people directly from where they live to key town centres or employment hubs</a:t>
            </a:r>
          </a:p>
          <a:p>
            <a:endParaRPr lang="en-US" altLang="en-US" dirty="0">
              <a:latin typeface="Arial" panose="020B0604020202020204" pitchFamily="34" charset="0"/>
            </a:endParaRPr>
          </a:p>
        </p:txBody>
      </p:sp>
    </p:spTree>
    <p:extLst>
      <p:ext uri="{BB962C8B-B14F-4D97-AF65-F5344CB8AC3E}">
        <p14:creationId xmlns:p14="http://schemas.microsoft.com/office/powerpoint/2010/main" val="12765548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87D3A-C673-6317-1213-7C0742E9731A}"/>
            </a:ext>
          </a:extLst>
        </p:cNvPr>
        <p:cNvGrpSpPr/>
        <p:nvPr/>
      </p:nvGrpSpPr>
      <p:grpSpPr>
        <a:xfrm>
          <a:off x="0" y="0"/>
          <a:ext cx="0" cy="0"/>
          <a:chOff x="0" y="0"/>
          <a:chExt cx="0" cy="0"/>
        </a:xfrm>
      </p:grpSpPr>
      <p:sp>
        <p:nvSpPr>
          <p:cNvPr id="5" name="Rectangle 7">
            <a:extLst>
              <a:ext uri="{FF2B5EF4-FFF2-40B4-BE49-F238E27FC236}">
                <a16:creationId xmlns:a16="http://schemas.microsoft.com/office/drawing/2014/main" id="{CC6203C7-AF0C-6F64-5DF7-0BB624CFE274}"/>
              </a:ext>
            </a:extLst>
          </p:cNvPr>
          <p:cNvSpPr>
            <a:spLocks noGrp="1" noChangeArrowheads="1"/>
          </p:cNvSpPr>
          <p:nvPr>
            <p:ph type="sldNum" sz="quarter" idx="5"/>
          </p:nvPr>
        </p:nvSpPr>
        <p:spPr>
          <a:ln/>
        </p:spPr>
        <p:txBody>
          <a:bodyPr/>
          <a:lstStyle/>
          <a:p>
            <a:fld id="{342896C4-A8E4-6C4E-A3FD-00DBF7B7A527}" type="slidenum">
              <a:rPr lang="en-US" altLang="en-US"/>
              <a:pPr/>
              <a:t>3</a:t>
            </a:fld>
            <a:endParaRPr lang="en-US" altLang="en-US"/>
          </a:p>
        </p:txBody>
      </p:sp>
      <p:sp>
        <p:nvSpPr>
          <p:cNvPr id="36866" name="Rectangle 2">
            <a:extLst>
              <a:ext uri="{FF2B5EF4-FFF2-40B4-BE49-F238E27FC236}">
                <a16:creationId xmlns:a16="http://schemas.microsoft.com/office/drawing/2014/main" id="{EB5BFFED-6AA9-A0D7-8EBA-4A79AD7C4A8A}"/>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9891BEDA-1236-2AA8-D0BF-0157C63BE651}"/>
              </a:ext>
            </a:extLst>
          </p:cNvPr>
          <p:cNvSpPr>
            <a:spLocks noGrp="1" noChangeArrowheads="1"/>
          </p:cNvSpPr>
          <p:nvPr>
            <p:ph type="body" idx="1"/>
          </p:nvPr>
        </p:nvSpPr>
        <p:spPr/>
        <p:txBody>
          <a:bodyPr/>
          <a:lstStyle/>
          <a:p>
            <a:r>
              <a:rPr lang="en-GB" dirty="0"/>
              <a:t>Now that we’ve looked at the high-level mode shifts, I want to drill down into the single biggest disruptor for our network: Work From Home. If we want to optimize schedules, we have to understand that the '9-to-5' commuter is no longer a single, predictable block. As you can see in the boxplot here, the shift has been massive but incredibly uneven. In just five years, the median WFH rate across SA2s jumped from around 5% to 30%. But the 'whisker' at the top tells the real story—some areas are now pushing 70%. In high-density spots like Balmain, </a:t>
            </a:r>
            <a:r>
              <a:rPr lang="en-GB" dirty="0" err="1"/>
              <a:t>Erskineville</a:t>
            </a:r>
            <a:r>
              <a:rPr lang="en-GB" dirty="0"/>
              <a:t>, and Crows Nest, over two-thirds of the workforce is now working from home. This tells us that demand hasn't just decreased; it has fragmented. What’s particularly interesting is the correlation between WFH and the CBD. The data shows that the workers most likely to work from home are the ones who used to commute often to CBD for work. This confirms that the traditional Monday-to-Friday peak is being weakened, specifically by the professional services sector</a:t>
            </a:r>
          </a:p>
          <a:p>
            <a:pPr>
              <a:buNone/>
            </a:pPr>
            <a:r>
              <a:rPr lang="en-GB" dirty="0"/>
              <a:t>So, what does this mean for NSW Transport? It means the old model of 'peak capacity' is becoming inefficient.</a:t>
            </a:r>
          </a:p>
          <a:p>
            <a:pPr>
              <a:buFont typeface="Arial" panose="020B0604020202020204" pitchFamily="34" charset="0"/>
              <a:buChar char="•"/>
            </a:pPr>
            <a:r>
              <a:rPr lang="en-GB" dirty="0"/>
              <a:t>Instead of focusing on massive surges at 8:00 AM, we need to shift toward </a:t>
            </a:r>
            <a:r>
              <a:rPr lang="en-GB" b="1" dirty="0"/>
              <a:t>consistent frequency</a:t>
            </a:r>
            <a:r>
              <a:rPr lang="en-GB" dirty="0"/>
              <a:t> throughout the day.</a:t>
            </a:r>
          </a:p>
          <a:p>
            <a:pPr>
              <a:buFont typeface="Arial" panose="020B0604020202020204" pitchFamily="34" charset="0"/>
              <a:buChar char="•"/>
            </a:pPr>
            <a:r>
              <a:rPr lang="en-GB" dirty="0"/>
              <a:t>In these high-WFH areas, people are still moving, but they are moving locally. We should prioritize </a:t>
            </a:r>
            <a:r>
              <a:rPr lang="en-GB" b="1" dirty="0"/>
              <a:t>local </a:t>
            </a:r>
            <a:r>
              <a:rPr lang="en-GB" b="1" dirty="0" err="1"/>
              <a:t>neighborhood</a:t>
            </a:r>
            <a:r>
              <a:rPr lang="en-GB" b="1" dirty="0"/>
              <a:t> connections</a:t>
            </a:r>
            <a:r>
              <a:rPr lang="en-GB" dirty="0"/>
              <a:t> rather than just hub-to-CBD funnels.</a:t>
            </a:r>
          </a:p>
          <a:p>
            <a:pPr>
              <a:buFont typeface="Arial" panose="020B0604020202020204" pitchFamily="34" charset="0"/>
              <a:buChar char="•"/>
            </a:pPr>
            <a:r>
              <a:rPr lang="en-GB" dirty="0"/>
              <a:t>Conversely, as we'll see in my next section on Bus Prioritisation, we need to double down on areas with </a:t>
            </a:r>
            <a:r>
              <a:rPr lang="en-GB" i="1" dirty="0"/>
              <a:t>low</a:t>
            </a:r>
            <a:r>
              <a:rPr lang="en-GB" dirty="0"/>
              <a:t> WFH potential—like our outer suburbs—where physical commuting is still a daily necessity."</a:t>
            </a:r>
          </a:p>
          <a:p>
            <a:r>
              <a:rPr lang="en-GB" dirty="0"/>
              <a:t>This brings us to the core question: if WFH has reduced demand in the </a:t>
            </a:r>
            <a:r>
              <a:rPr lang="en-GB" dirty="0" err="1"/>
              <a:t>center</a:t>
            </a:r>
            <a:r>
              <a:rPr lang="en-GB" dirty="0"/>
              <a:t>, where exactly should we be moving our resources to get the best return on investment? Let's look at the top locations for new bus routes."</a:t>
            </a:r>
          </a:p>
          <a:p>
            <a:endParaRPr lang="en-US" altLang="en-US" dirty="0">
              <a:latin typeface="Arial" panose="020B0604020202020204" pitchFamily="34" charset="0"/>
            </a:endParaRPr>
          </a:p>
        </p:txBody>
      </p:sp>
    </p:spTree>
    <p:extLst>
      <p:ext uri="{BB962C8B-B14F-4D97-AF65-F5344CB8AC3E}">
        <p14:creationId xmlns:p14="http://schemas.microsoft.com/office/powerpoint/2010/main" val="1905760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667A3-AC58-CEC5-037A-A650843022F4}"/>
            </a:ext>
          </a:extLst>
        </p:cNvPr>
        <p:cNvGrpSpPr/>
        <p:nvPr/>
      </p:nvGrpSpPr>
      <p:grpSpPr>
        <a:xfrm>
          <a:off x="0" y="0"/>
          <a:ext cx="0" cy="0"/>
          <a:chOff x="0" y="0"/>
          <a:chExt cx="0" cy="0"/>
        </a:xfrm>
      </p:grpSpPr>
      <p:sp>
        <p:nvSpPr>
          <p:cNvPr id="5" name="Rectangle 7">
            <a:extLst>
              <a:ext uri="{FF2B5EF4-FFF2-40B4-BE49-F238E27FC236}">
                <a16:creationId xmlns:a16="http://schemas.microsoft.com/office/drawing/2014/main" id="{992B41E9-AB62-1EEB-89FF-567D638A4A5D}"/>
              </a:ext>
            </a:extLst>
          </p:cNvPr>
          <p:cNvSpPr>
            <a:spLocks noGrp="1" noChangeArrowheads="1"/>
          </p:cNvSpPr>
          <p:nvPr>
            <p:ph type="sldNum" sz="quarter" idx="5"/>
          </p:nvPr>
        </p:nvSpPr>
        <p:spPr>
          <a:ln/>
        </p:spPr>
        <p:txBody>
          <a:bodyPr/>
          <a:lstStyle/>
          <a:p>
            <a:fld id="{342896C4-A8E4-6C4E-A3FD-00DBF7B7A527}" type="slidenum">
              <a:rPr lang="en-US" altLang="en-US"/>
              <a:pPr/>
              <a:t>4</a:t>
            </a:fld>
            <a:endParaRPr lang="en-US" altLang="en-US"/>
          </a:p>
        </p:txBody>
      </p:sp>
      <p:sp>
        <p:nvSpPr>
          <p:cNvPr id="36866" name="Rectangle 2">
            <a:extLst>
              <a:ext uri="{FF2B5EF4-FFF2-40B4-BE49-F238E27FC236}">
                <a16:creationId xmlns:a16="http://schemas.microsoft.com/office/drawing/2014/main" id="{659E981D-CE2C-999E-F185-0843C097828E}"/>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A20A091A-70A5-46FB-4BA3-813D4A840E7F}"/>
              </a:ext>
            </a:extLst>
          </p:cNvPr>
          <p:cNvSpPr>
            <a:spLocks noGrp="1" noChangeArrowheads="1"/>
          </p:cNvSpPr>
          <p:nvPr>
            <p:ph type="body" idx="1"/>
          </p:nvPr>
        </p:nvSpPr>
        <p:spPr/>
        <p:txBody>
          <a:bodyPr/>
          <a:lstStyle/>
          <a:p>
            <a:pPr>
              <a:buNone/>
            </a:pPr>
            <a:r>
              <a:rPr lang="en-GB" sz="1800" i="1" dirty="0">
                <a:effectLst/>
                <a:latin typeface="Times New Roman" panose="02020603050405020304" pitchFamily="18" charset="0"/>
                <a:ea typeface="Times New Roman" panose="02020603050405020304" pitchFamily="18" charset="0"/>
              </a:rPr>
              <a:t>In order to come up with potential areas for new bus routes, Rather than ranking locations by a single metric, I built a composite ‘bus candidate score’ to identify where a new bus route would likely deliver the strongest return.</a:t>
            </a:r>
            <a:endParaRPr lang="en-GB" sz="1800" dirty="0">
              <a:effectLst/>
              <a:latin typeface="Times New Roman" panose="02020603050405020304" pitchFamily="18" charset="0"/>
              <a:ea typeface="Times New Roman" panose="02020603050405020304" pitchFamily="18" charset="0"/>
            </a:endParaRPr>
          </a:p>
          <a:p>
            <a:pPr>
              <a:buNone/>
            </a:pPr>
            <a:r>
              <a:rPr lang="en-GB" sz="1800" i="1" dirty="0">
                <a:effectLst/>
                <a:latin typeface="Times New Roman" panose="02020603050405020304" pitchFamily="18" charset="0"/>
                <a:ea typeface="Times New Roman" panose="02020603050405020304" pitchFamily="18" charset="0"/>
              </a:rPr>
              <a:t>The reason for using a composite score is that no single factor tells the full story.</a:t>
            </a:r>
            <a:br>
              <a:rPr lang="en-GB" sz="1800" dirty="0">
                <a:effectLst/>
                <a:latin typeface="Times New Roman" panose="02020603050405020304" pitchFamily="18" charset="0"/>
                <a:ea typeface="Times New Roman" panose="02020603050405020304" pitchFamily="18" charset="0"/>
              </a:rPr>
            </a:br>
            <a:r>
              <a:rPr lang="en-GB" sz="1800" dirty="0">
                <a:effectLst/>
                <a:latin typeface="Times New Roman" panose="02020603050405020304" pitchFamily="18" charset="0"/>
                <a:ea typeface="Times New Roman" panose="02020603050405020304" pitchFamily="18" charset="0"/>
              </a:rPr>
              <a:t>First, CBD commuter volume tells us where there is already real, proven demand </a:t>
            </a:r>
          </a:p>
          <a:p>
            <a:r>
              <a:rPr lang="en-GB" sz="1800" dirty="0">
                <a:effectLst/>
                <a:latin typeface="Times New Roman" panose="02020603050405020304" pitchFamily="18" charset="0"/>
                <a:ea typeface="Times New Roman" panose="02020603050405020304" pitchFamily="18" charset="0"/>
              </a:rPr>
              <a:t>Then, we look at CBD growth to understand which areas are recovering and likely to remain relevant, especially after the shift to work-from-home.</a:t>
            </a:r>
            <a:br>
              <a:rPr lang="en-GB" sz="1800" dirty="0">
                <a:effectLst/>
                <a:latin typeface="Times New Roman" panose="02020603050405020304" pitchFamily="18" charset="0"/>
                <a:ea typeface="Times New Roman" panose="02020603050405020304" pitchFamily="18" charset="0"/>
              </a:rPr>
            </a:br>
            <a:r>
              <a:rPr lang="en-GB" sz="1800" dirty="0">
                <a:effectLst/>
                <a:latin typeface="Times New Roman" panose="02020603050405020304" pitchFamily="18" charset="0"/>
                <a:ea typeface="Times New Roman" panose="02020603050405020304" pitchFamily="18" charset="0"/>
              </a:rPr>
              <a:t>Public transport share helps us identify areas that may be underserved today, where a direct bus could realistically capture demand.</a:t>
            </a:r>
            <a:br>
              <a:rPr lang="en-GB" sz="1800" dirty="0">
                <a:effectLst/>
                <a:latin typeface="Times New Roman" panose="02020603050405020304" pitchFamily="18" charset="0"/>
                <a:ea typeface="Times New Roman" panose="02020603050405020304" pitchFamily="18" charset="0"/>
              </a:rPr>
            </a:br>
            <a:r>
              <a:rPr lang="en-GB" sz="1800" dirty="0">
                <a:effectLst/>
                <a:latin typeface="Times New Roman" panose="02020603050405020304" pitchFamily="18" charset="0"/>
                <a:ea typeface="Times New Roman" panose="02020603050405020304" pitchFamily="18" charset="0"/>
              </a:rPr>
              <a:t>Work-from-home rates act as a reality check, so we don’t over-invest in locations where commuting demand may be structurally lower.</a:t>
            </a:r>
            <a:br>
              <a:rPr lang="en-GB" sz="1800" dirty="0">
                <a:effectLst/>
                <a:latin typeface="Times New Roman" panose="02020603050405020304" pitchFamily="18" charset="0"/>
                <a:ea typeface="Times New Roman" panose="02020603050405020304" pitchFamily="18" charset="0"/>
              </a:rPr>
            </a:br>
            <a:r>
              <a:rPr lang="en-GB" sz="1800" dirty="0">
                <a:effectLst/>
                <a:latin typeface="Times New Roman" panose="02020603050405020304" pitchFamily="18" charset="0"/>
                <a:ea typeface="Times New Roman" panose="02020603050405020304" pitchFamily="18" charset="0"/>
              </a:rPr>
              <a:t>And finally, mixed-mode travel shows where people are already combining car and public transport, which suggests they’re more open to switching if a better option is available.</a:t>
            </a:r>
            <a:endParaRPr lang="en-GB" sz="1200" b="1" dirty="0">
              <a:latin typeface="Arial Nova" panose="020B0504020202020204" pitchFamily="34" charset="0"/>
            </a:endParaRPr>
          </a:p>
          <a:p>
            <a:pPr marL="171450" indent="-171450">
              <a:buFont typeface="Arial" panose="020B0604020202020204" pitchFamily="34" charset="0"/>
              <a:buChar char="•"/>
            </a:pPr>
            <a:r>
              <a:rPr lang="en-GB" sz="1200" b="1" dirty="0" err="1">
                <a:latin typeface="Arial Nova" panose="020B0504020202020204" pitchFamily="34" charset="0"/>
              </a:rPr>
              <a:t>Erskineville</a:t>
            </a:r>
            <a:r>
              <a:rPr lang="en-GB" sz="1200" b="1" dirty="0">
                <a:latin typeface="Arial Nova" panose="020B0504020202020204" pitchFamily="34" charset="0"/>
              </a:rPr>
              <a:t>–Alexandria, Potts Point–Woolloomooloo, and Glebe–Forest Lodge </a:t>
            </a:r>
            <a:r>
              <a:rPr lang="en-GB" dirty="0"/>
              <a:t>due to </a:t>
            </a:r>
            <a:r>
              <a:rPr lang="en-GB" b="1" dirty="0"/>
              <a:t>high absolute volumes of CBD-bound commuters combined with very low public transport share</a:t>
            </a:r>
            <a:r>
              <a:rPr lang="en-GB" dirty="0"/>
              <a:t>, indicating strong demand but declining confidence in PT despite proximity to the CBD.</a:t>
            </a:r>
            <a:endParaRPr lang="en-GB" sz="1200" dirty="0">
              <a:latin typeface="Arial Nova" panose="020B0504020202020204" pitchFamily="34" charset="0"/>
            </a:endParaRPr>
          </a:p>
          <a:p>
            <a:pPr marL="171450" indent="-171450">
              <a:buFont typeface="Arial" panose="020B0604020202020204" pitchFamily="34" charset="0"/>
              <a:buChar char="•"/>
            </a:pPr>
            <a:r>
              <a:rPr lang="en-GB" b="1" dirty="0"/>
              <a:t>Sydney South–Haymarket, Surry Hills, and Waterloo</a:t>
            </a:r>
            <a:r>
              <a:rPr lang="en-GB" dirty="0"/>
              <a:t> — is driven by </a:t>
            </a:r>
            <a:r>
              <a:rPr lang="en-GB" b="1" dirty="0"/>
              <a:t>low work-from-home</a:t>
            </a:r>
            <a:r>
              <a:rPr lang="en-GB" dirty="0"/>
              <a:t>. People still need to travel in person, but the mode choice is shifting toward cars, making targeted bus improvements a high-impact lever.</a:t>
            </a:r>
          </a:p>
          <a:p>
            <a:pPr marL="171450" indent="-171450">
              <a:buFont typeface="Arial" panose="020B0604020202020204" pitchFamily="34" charset="0"/>
              <a:buChar char="•"/>
            </a:pPr>
            <a:r>
              <a:rPr lang="en-GB" sz="1200" b="1" dirty="0">
                <a:latin typeface="Arial Nova" panose="020B0504020202020204" pitchFamily="34" charset="0"/>
              </a:rPr>
              <a:t>Port Macquarie–West </a:t>
            </a:r>
            <a:r>
              <a:rPr lang="en-GB" sz="1200" dirty="0">
                <a:latin typeface="Arial Nova" panose="020B0504020202020204" pitchFamily="34" charset="0"/>
              </a:rPr>
              <a:t>is the only regional SA2 in the top 10 because of </a:t>
            </a:r>
            <a:r>
              <a:rPr lang="en-GB" sz="1200" b="1" dirty="0">
                <a:latin typeface="Arial Nova" panose="020B0504020202020204" pitchFamily="34" charset="0"/>
              </a:rPr>
              <a:t>low PT share (&lt;1%) </a:t>
            </a:r>
            <a:r>
              <a:rPr lang="en-GB" sz="1200" dirty="0">
                <a:latin typeface="Arial Nova" panose="020B0504020202020204" pitchFamily="34" charset="0"/>
              </a:rPr>
              <a:t>and </a:t>
            </a:r>
            <a:r>
              <a:rPr lang="en-GB" sz="1200" b="1" dirty="0">
                <a:latin typeface="Arial Nova" panose="020B0504020202020204" pitchFamily="34" charset="0"/>
              </a:rPr>
              <a:t>low WFH rates </a:t>
            </a:r>
            <a:r>
              <a:rPr lang="en-GB" sz="1200" dirty="0">
                <a:latin typeface="Arial Nova" panose="020B0504020202020204" pitchFamily="34" charset="0"/>
              </a:rPr>
              <a:t>(10–12%). This suggests </a:t>
            </a:r>
            <a:r>
              <a:rPr lang="en-GB" b="1" dirty="0"/>
              <a:t>structural transport constraints</a:t>
            </a:r>
            <a:r>
              <a:rPr lang="en-GB" dirty="0"/>
              <a:t> in this area like limited service frequency.</a:t>
            </a:r>
            <a:endParaRPr lang="en-GB" sz="1200" dirty="0">
              <a:latin typeface="Arial Nova" panose="020B0504020202020204" pitchFamily="34" charset="0"/>
            </a:endParaRPr>
          </a:p>
          <a:p>
            <a:r>
              <a:rPr lang="en-GB" dirty="0"/>
              <a:t>This reinforces two different policy implications:</a:t>
            </a:r>
            <a:br>
              <a:rPr lang="en-GB" dirty="0"/>
            </a:br>
            <a:r>
              <a:rPr lang="en-GB" dirty="0"/>
              <a:t>For </a:t>
            </a:r>
            <a:r>
              <a:rPr lang="en-GB" b="1" dirty="0"/>
              <a:t>inner-metro Sydney</a:t>
            </a:r>
            <a:r>
              <a:rPr lang="en-GB" dirty="0"/>
              <a:t>, the opportunity is to </a:t>
            </a:r>
            <a:r>
              <a:rPr lang="en-GB" b="1" dirty="0"/>
              <a:t>win back mode share</a:t>
            </a:r>
            <a:r>
              <a:rPr lang="en-GB" dirty="0"/>
              <a:t> through faster, more reliable bus services.</a:t>
            </a:r>
            <a:br>
              <a:rPr lang="en-GB" dirty="0"/>
            </a:br>
            <a:r>
              <a:rPr lang="en-GB" dirty="0"/>
              <a:t>For </a:t>
            </a:r>
            <a:r>
              <a:rPr lang="en-GB" b="1" dirty="0"/>
              <a:t>regional areas like Port Macquarie</a:t>
            </a:r>
            <a:r>
              <a:rPr lang="en-GB" dirty="0"/>
              <a:t>, the opportunity is </a:t>
            </a:r>
            <a:r>
              <a:rPr lang="en-GB" b="1" dirty="0"/>
              <a:t>hub-based or town-to-centre services</a:t>
            </a:r>
            <a:endParaRPr lang="en-US" altLang="en-US" dirty="0">
              <a:latin typeface="Arial" panose="020B0604020202020204" pitchFamily="34" charset="0"/>
            </a:endParaRPr>
          </a:p>
        </p:txBody>
      </p:sp>
    </p:spTree>
    <p:extLst>
      <p:ext uri="{BB962C8B-B14F-4D97-AF65-F5344CB8AC3E}">
        <p14:creationId xmlns:p14="http://schemas.microsoft.com/office/powerpoint/2010/main" val="16660160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DC7A6-2EA0-8E5D-5D88-22445AA0D52B}"/>
            </a:ext>
          </a:extLst>
        </p:cNvPr>
        <p:cNvGrpSpPr/>
        <p:nvPr/>
      </p:nvGrpSpPr>
      <p:grpSpPr>
        <a:xfrm>
          <a:off x="0" y="0"/>
          <a:ext cx="0" cy="0"/>
          <a:chOff x="0" y="0"/>
          <a:chExt cx="0" cy="0"/>
        </a:xfrm>
      </p:grpSpPr>
      <p:sp>
        <p:nvSpPr>
          <p:cNvPr id="5" name="Rectangle 7">
            <a:extLst>
              <a:ext uri="{FF2B5EF4-FFF2-40B4-BE49-F238E27FC236}">
                <a16:creationId xmlns:a16="http://schemas.microsoft.com/office/drawing/2014/main" id="{507F4B72-F0C8-4FB2-9842-6C2AB33483FC}"/>
              </a:ext>
            </a:extLst>
          </p:cNvPr>
          <p:cNvSpPr>
            <a:spLocks noGrp="1" noChangeArrowheads="1"/>
          </p:cNvSpPr>
          <p:nvPr>
            <p:ph type="sldNum" sz="quarter" idx="5"/>
          </p:nvPr>
        </p:nvSpPr>
        <p:spPr>
          <a:ln/>
        </p:spPr>
        <p:txBody>
          <a:bodyPr/>
          <a:lstStyle/>
          <a:p>
            <a:fld id="{342896C4-A8E4-6C4E-A3FD-00DBF7B7A527}" type="slidenum">
              <a:rPr lang="en-US" altLang="en-US"/>
              <a:pPr/>
              <a:t>5</a:t>
            </a:fld>
            <a:endParaRPr lang="en-US" altLang="en-US"/>
          </a:p>
        </p:txBody>
      </p:sp>
      <p:sp>
        <p:nvSpPr>
          <p:cNvPr id="36866" name="Rectangle 2">
            <a:extLst>
              <a:ext uri="{FF2B5EF4-FFF2-40B4-BE49-F238E27FC236}">
                <a16:creationId xmlns:a16="http://schemas.microsoft.com/office/drawing/2014/main" id="{90D1EECA-F9C5-63BF-9B34-55067CD9D6FA}"/>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7D395231-6B00-1D10-0B79-AAB82B76AA89}"/>
              </a:ext>
            </a:extLst>
          </p:cNvPr>
          <p:cNvSpPr>
            <a:spLocks noGrp="1" noChangeArrowheads="1"/>
          </p:cNvSpPr>
          <p:nvPr>
            <p:ph type="body" idx="1"/>
          </p:nvPr>
        </p:nvSpPr>
        <p:spPr/>
        <p:txBody>
          <a:bodyPr/>
          <a:lstStyle/>
          <a:p>
            <a:r>
              <a:rPr lang="en-GB" dirty="0"/>
              <a:t>Up to this point, the analysis has been based on Census snapshot of 3 years, which can’t tell us how behaviour is changing week to week or day to day. With the support of </a:t>
            </a:r>
            <a:r>
              <a:rPr lang="en-GB" dirty="0" err="1"/>
              <a:t>CommBankiQ</a:t>
            </a:r>
            <a:r>
              <a:rPr lang="en-GB" dirty="0"/>
              <a:t> transactional data, by analysing the timing and location of spend, we can validate how often people are physically travelling, which days of the week demand is strongest, and whether trips are happening during traditional peaks or shifting into off-peak periods. Secondly, our data only has the destinations as the workplace, but not the destinations for other activities. Therefore, having the transactional data gives us the access to where people spend their money so that we can plan the PT schedule more efficiently. Lastly, </a:t>
            </a:r>
            <a:r>
              <a:rPr lang="en-GB" dirty="0" err="1"/>
              <a:t>CommBankIQ</a:t>
            </a:r>
            <a:r>
              <a:rPr lang="en-GB" dirty="0"/>
              <a:t> can offer </a:t>
            </a:r>
            <a:r>
              <a:rPr lang="en-GB" dirty="0" err="1"/>
              <a:t>custoners</a:t>
            </a:r>
            <a:r>
              <a:rPr lang="en-GB" dirty="0"/>
              <a:t>’ spending </a:t>
            </a:r>
            <a:r>
              <a:rPr lang="en-GB" dirty="0" err="1"/>
              <a:t>behavior</a:t>
            </a:r>
            <a:r>
              <a:rPr lang="en-GB" dirty="0"/>
              <a:t>. For example, we can identify where people often spend more on high toll and parking because it is potential to convert them into public transport passengers.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GB" altLang="en-US" dirty="0">
                <a:latin typeface="Arial" panose="020B0604020202020204" pitchFamily="34" charset="0"/>
              </a:rPr>
              <a:t>Besides </a:t>
            </a:r>
            <a:r>
              <a:rPr lang="en-GB" altLang="en-US" dirty="0" err="1">
                <a:latin typeface="Arial" panose="020B0604020202020204" pitchFamily="34" charset="0"/>
              </a:rPr>
              <a:t>CommBankiQ</a:t>
            </a:r>
            <a:r>
              <a:rPr lang="en-GB" altLang="en-US" dirty="0">
                <a:latin typeface="Arial" panose="020B0604020202020204" pitchFamily="34" charset="0"/>
              </a:rPr>
              <a:t> transactional data, there are other </a:t>
            </a:r>
            <a:r>
              <a:rPr lang="en-GB" altLang="en-US" dirty="0" err="1">
                <a:latin typeface="Arial" panose="020B0604020202020204" pitchFamily="34" charset="0"/>
              </a:rPr>
              <a:t>dasetsets</a:t>
            </a:r>
            <a:r>
              <a:rPr lang="en-GB" altLang="en-US" dirty="0">
                <a:latin typeface="Arial" panose="020B0604020202020204" pitchFamily="34" charset="0"/>
              </a:rPr>
              <a:t> which supports the planning as well. Having the data of people tapping on and off Opal card can provide us a more accurate public transport demand in each location. Furthermore, Road congestion data shows places where buses have competitive advantages in travel time vs private </a:t>
            </a:r>
            <a:r>
              <a:rPr lang="en-GB" altLang="en-US" dirty="0" err="1">
                <a:latin typeface="Arial" panose="020B0604020202020204" pitchFamily="34" charset="0"/>
              </a:rPr>
              <a:t>vehichle</a:t>
            </a:r>
            <a:r>
              <a:rPr lang="en-GB" altLang="en-US" dirty="0">
                <a:latin typeface="Arial" panose="020B0604020202020204" pitchFamily="34" charset="0"/>
              </a:rPr>
              <a:t>, thanks to dedicated bus lanes. Last but not least, the land use and growth forecasts data is useful for planning to meet the future demand, and major CBD event can help model temporary demand spikes. </a:t>
            </a:r>
            <a:r>
              <a:rPr lang="en-GB" sz="1800" kern="100" dirty="0">
                <a:effectLst/>
                <a:latin typeface="Aptos" panose="020B0004020202020204" pitchFamily="34" charset="0"/>
                <a:ea typeface="Aptos" panose="020B0004020202020204" pitchFamily="34" charset="0"/>
                <a:cs typeface="Times New Roman" panose="02020603050405020304" pitchFamily="18" charset="0"/>
              </a:rPr>
              <a:t>With this real-time intelligence, we move from observation to action. Here is our three-phase roadmap to transform this network</a:t>
            </a:r>
          </a:p>
          <a:p>
            <a:endParaRPr lang="en-US" altLang="en-US" dirty="0">
              <a:latin typeface="Arial" panose="020B0604020202020204" pitchFamily="34" charset="0"/>
            </a:endParaRPr>
          </a:p>
        </p:txBody>
      </p:sp>
    </p:spTree>
    <p:extLst>
      <p:ext uri="{BB962C8B-B14F-4D97-AF65-F5344CB8AC3E}">
        <p14:creationId xmlns:p14="http://schemas.microsoft.com/office/powerpoint/2010/main" val="29705015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55C9B-EBEC-98EE-7C49-F4EAEAF231BD}"/>
            </a:ext>
          </a:extLst>
        </p:cNvPr>
        <p:cNvGrpSpPr/>
        <p:nvPr/>
      </p:nvGrpSpPr>
      <p:grpSpPr>
        <a:xfrm>
          <a:off x="0" y="0"/>
          <a:ext cx="0" cy="0"/>
          <a:chOff x="0" y="0"/>
          <a:chExt cx="0" cy="0"/>
        </a:xfrm>
      </p:grpSpPr>
      <p:sp>
        <p:nvSpPr>
          <p:cNvPr id="5" name="Rectangle 7">
            <a:extLst>
              <a:ext uri="{FF2B5EF4-FFF2-40B4-BE49-F238E27FC236}">
                <a16:creationId xmlns:a16="http://schemas.microsoft.com/office/drawing/2014/main" id="{382F80DB-C042-5E69-8CBE-5F54CB036B31}"/>
              </a:ext>
            </a:extLst>
          </p:cNvPr>
          <p:cNvSpPr>
            <a:spLocks noGrp="1" noChangeArrowheads="1"/>
          </p:cNvSpPr>
          <p:nvPr>
            <p:ph type="sldNum" sz="quarter" idx="5"/>
          </p:nvPr>
        </p:nvSpPr>
        <p:spPr>
          <a:ln/>
        </p:spPr>
        <p:txBody>
          <a:bodyPr/>
          <a:lstStyle/>
          <a:p>
            <a:fld id="{342896C4-A8E4-6C4E-A3FD-00DBF7B7A527}" type="slidenum">
              <a:rPr lang="en-US" altLang="en-US"/>
              <a:pPr/>
              <a:t>6</a:t>
            </a:fld>
            <a:endParaRPr lang="en-US" altLang="en-US"/>
          </a:p>
        </p:txBody>
      </p:sp>
      <p:sp>
        <p:nvSpPr>
          <p:cNvPr id="36866" name="Rectangle 2">
            <a:extLst>
              <a:ext uri="{FF2B5EF4-FFF2-40B4-BE49-F238E27FC236}">
                <a16:creationId xmlns:a16="http://schemas.microsoft.com/office/drawing/2014/main" id="{7E0C679B-A01B-5035-BB22-EDAC47DFA10C}"/>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25FBBEC5-9989-9B7C-F84B-0FF4278F2B8C}"/>
              </a:ext>
            </a:extLst>
          </p:cNvPr>
          <p:cNvSpPr>
            <a:spLocks noGrp="1" noChangeArrowheads="1"/>
          </p:cNvSpPr>
          <p:nvPr>
            <p:ph type="body" idx="1"/>
          </p:nvPr>
        </p:nvSpPr>
        <p:spPr/>
        <p:txBody>
          <a:bodyPr/>
          <a:lstStyle/>
          <a:p>
            <a:r>
              <a:rPr lang="en-GB" altLang="en-US" dirty="0">
                <a:latin typeface="Arial" panose="020B0604020202020204" pitchFamily="34" charset="0"/>
              </a:rPr>
              <a:t>My recommendations are built upon 3 phases, which are immediate actions, short-term program, and medium term plan. For phase 1, we focus on validating our analysis. We can use toll and fuel transaction data from CommBank IQ to target the areas where people are more likely to switch to public transport for expansion plan. Also, we build a more detailed and accurate timetable to meet the uneven demand based on the transaction timestamps. Furthermore, we can deep dive in persona data to gain insights between WFH professionals and On-site workers to understand what they need and tailor our services to satisfy their travelling demand. </a:t>
            </a:r>
          </a:p>
          <a:p>
            <a:r>
              <a:rPr lang="en-GB" altLang="en-US" dirty="0">
                <a:latin typeface="Arial" panose="020B0604020202020204" pitchFamily="34" charset="0"/>
              </a:rPr>
              <a:t>In phase 2, we can build a short pilot program with some incentives at the 10 potential suburbs to capture the commuters using private vehicles, and establish more shuttle bus in suburbs where most people WFH. </a:t>
            </a:r>
          </a:p>
          <a:p>
            <a:pPr>
              <a:buFont typeface="Arial" panose="020B0604020202020204" pitchFamily="34" charset="0"/>
              <a:buChar char="•"/>
            </a:pPr>
            <a:r>
              <a:rPr lang="en-GB" altLang="en-US" dirty="0">
                <a:latin typeface="Arial" panose="020B0604020202020204" pitchFamily="34" charset="0"/>
              </a:rPr>
              <a:t>Phase 3 focus on further analysis for long-term planning. First, we can </a:t>
            </a:r>
            <a:r>
              <a:rPr lang="en-GB" dirty="0"/>
              <a:t>create a unified data layer merging Opal tap-on data with </a:t>
            </a:r>
            <a:r>
              <a:rPr lang="en-GB" dirty="0" err="1"/>
              <a:t>CBAiQ</a:t>
            </a:r>
            <a:r>
              <a:rPr lang="en-GB" dirty="0"/>
              <a:t> merchant spending to identify where people are traveling but </a:t>
            </a:r>
            <a:r>
              <a:rPr lang="en-GB" i="1" dirty="0"/>
              <a:t>not</a:t>
            </a:r>
            <a:r>
              <a:rPr lang="en-GB" dirty="0"/>
              <a:t> using public </a:t>
            </a:r>
            <a:r>
              <a:rPr lang="en-GB" dirty="0" err="1"/>
              <a:t>transport,meaning</a:t>
            </a:r>
            <a:r>
              <a:rPr lang="en-GB" dirty="0"/>
              <a:t> that the demand is high but transport accessibility is a barrier, to launch targeted infrastructure projects (e.g., dedicated bus lanes or new interchanges). Second, Looking further out, we want to move toward </a:t>
            </a:r>
            <a:r>
              <a:rPr lang="en-GB" b="1" dirty="0"/>
              <a:t>Predictive Infrastructure</a:t>
            </a:r>
            <a:r>
              <a:rPr lang="en-GB" dirty="0"/>
              <a:t>. By combining building approvals with our residential growth data, we can actually design bus routes </a:t>
            </a:r>
            <a:r>
              <a:rPr lang="en-GB" i="1" dirty="0"/>
              <a:t>before</a:t>
            </a:r>
            <a:r>
              <a:rPr lang="en-GB" dirty="0"/>
              <a:t> people move into new developments.</a:t>
            </a:r>
          </a:p>
          <a:p>
            <a:pPr>
              <a:buNone/>
            </a:pPr>
            <a:r>
              <a:rPr lang="en-GB" dirty="0"/>
              <a:t>Now, to ensure these recommendations are successful, we must be transparent about the constraints of our current data so we can proactively manage the risks of implementation. First, we recognize that Census data is a </a:t>
            </a:r>
            <a:r>
              <a:rPr lang="en-GB" b="1" dirty="0"/>
              <a:t>static snapshot</a:t>
            </a:r>
            <a:r>
              <a:rPr lang="en-GB" dirty="0"/>
              <a:t>—it doesn't capture seasonal variations.” There is also </a:t>
            </a:r>
            <a:r>
              <a:rPr lang="en-GB" b="1" dirty="0" err="1"/>
              <a:t>Behavioral</a:t>
            </a:r>
            <a:r>
              <a:rPr lang="en-GB" b="1" dirty="0"/>
              <a:t> Inertia</a:t>
            </a:r>
            <a:r>
              <a:rPr lang="en-GB" dirty="0"/>
              <a:t> to consider; even with perfect data, it takes time for people to change their established habits.” Finally, we acknowledge </a:t>
            </a:r>
            <a:r>
              <a:rPr lang="en-GB" b="1" dirty="0"/>
              <a:t>Operational Lead Times</a:t>
            </a:r>
            <a:r>
              <a:rPr lang="en-GB" dirty="0"/>
              <a:t>. Procuring a fleet and recruiting drivers can take months, which is exactly why we recommend acting on these data-driven insights now to meet the demand of the future.</a:t>
            </a:r>
          </a:p>
          <a:p>
            <a:pPr>
              <a:buFont typeface="Arial" panose="020B0604020202020204" pitchFamily="34" charset="0"/>
              <a:buChar char="•"/>
            </a:pPr>
            <a:endParaRPr lang="en-GB" dirty="0"/>
          </a:p>
          <a:p>
            <a:endParaRPr lang="en-GB" altLang="en-US" dirty="0">
              <a:latin typeface="Arial" panose="020B0604020202020204" pitchFamily="34" charset="0"/>
            </a:endParaRPr>
          </a:p>
          <a:p>
            <a:endParaRPr lang="en-US" altLang="en-US" dirty="0">
              <a:latin typeface="Arial" panose="020B0604020202020204" pitchFamily="34" charset="0"/>
            </a:endParaRPr>
          </a:p>
        </p:txBody>
      </p:sp>
    </p:spTree>
    <p:extLst>
      <p:ext uri="{BB962C8B-B14F-4D97-AF65-F5344CB8AC3E}">
        <p14:creationId xmlns:p14="http://schemas.microsoft.com/office/powerpoint/2010/main" val="263519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4CA89-CBFD-6598-68C5-ADDBB9E03CE3}"/>
              </a:ext>
            </a:extLst>
          </p:cNvPr>
          <p:cNvSpPr>
            <a:spLocks noGrp="1"/>
          </p:cNvSpPr>
          <p:nvPr>
            <p:ph type="ctrTitle"/>
          </p:nvPr>
        </p:nvSpPr>
        <p:spPr>
          <a:xfrm>
            <a:off x="1143000" y="1122363"/>
            <a:ext cx="6858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9D624FF3-5A28-D2DC-BDAE-836F9746FD50}"/>
              </a:ext>
            </a:extLst>
          </p:cNvPr>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0F1F99D8-D7BE-F128-53E0-FEA1B5882BB9}"/>
              </a:ext>
            </a:extLst>
          </p:cNvPr>
          <p:cNvSpPr>
            <a:spLocks noGrp="1"/>
          </p:cNvSpPr>
          <p:nvPr>
            <p:ph type="dt" sz="half" idx="10"/>
          </p:nvPr>
        </p:nvSpPr>
        <p:spPr/>
        <p:txBody>
          <a:bodyPr/>
          <a:lstStyle>
            <a:lvl1pPr>
              <a:defRPr/>
            </a:lvl1pPr>
          </a:lstStyle>
          <a:p>
            <a:endParaRPr lang="en-AU" altLang="en-US"/>
          </a:p>
        </p:txBody>
      </p:sp>
      <p:sp>
        <p:nvSpPr>
          <p:cNvPr id="5" name="Footer Placeholder 4">
            <a:extLst>
              <a:ext uri="{FF2B5EF4-FFF2-40B4-BE49-F238E27FC236}">
                <a16:creationId xmlns:a16="http://schemas.microsoft.com/office/drawing/2014/main" id="{2E7E29BB-E3F7-718F-3B61-1AA004ADF774}"/>
              </a:ext>
            </a:extLst>
          </p:cNvPr>
          <p:cNvSpPr>
            <a:spLocks noGrp="1"/>
          </p:cNvSpPr>
          <p:nvPr>
            <p:ph type="ftr" sz="quarter" idx="11"/>
          </p:nvPr>
        </p:nvSpPr>
        <p:spPr/>
        <p:txBody>
          <a:bodyPr/>
          <a:lstStyle>
            <a:lvl1pPr>
              <a:defRPr/>
            </a:lvl1pPr>
          </a:lstStyle>
          <a:p>
            <a:endParaRPr lang="en-AU" altLang="en-US"/>
          </a:p>
        </p:txBody>
      </p:sp>
      <p:sp>
        <p:nvSpPr>
          <p:cNvPr id="6" name="Slide Number Placeholder 5">
            <a:extLst>
              <a:ext uri="{FF2B5EF4-FFF2-40B4-BE49-F238E27FC236}">
                <a16:creationId xmlns:a16="http://schemas.microsoft.com/office/drawing/2014/main" id="{F03F8518-4DC0-B4FC-51E9-1A9EC68E5E6D}"/>
              </a:ext>
            </a:extLst>
          </p:cNvPr>
          <p:cNvSpPr>
            <a:spLocks noGrp="1"/>
          </p:cNvSpPr>
          <p:nvPr>
            <p:ph type="sldNum" sz="quarter" idx="12"/>
          </p:nvPr>
        </p:nvSpPr>
        <p:spPr/>
        <p:txBody>
          <a:bodyPr/>
          <a:lstStyle>
            <a:lvl1pPr>
              <a:defRPr/>
            </a:lvl1pPr>
          </a:lstStyle>
          <a:p>
            <a:fld id="{7F32DC48-578A-DC45-83E5-E86559DE9DFB}" type="slidenum">
              <a:rPr lang="en-AU" altLang="en-US"/>
              <a:pPr/>
              <a:t>‹#›</a:t>
            </a:fld>
            <a:endParaRPr lang="en-AU" altLang="en-US"/>
          </a:p>
        </p:txBody>
      </p:sp>
    </p:spTree>
    <p:extLst>
      <p:ext uri="{BB962C8B-B14F-4D97-AF65-F5344CB8AC3E}">
        <p14:creationId xmlns:p14="http://schemas.microsoft.com/office/powerpoint/2010/main" val="2112037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17D97-EBE9-C294-F6B6-2F32D103654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EF773D0-85C8-9741-93A2-173FB1A3866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66F8B96-C50B-5159-A284-4F9D5FEAE397}"/>
              </a:ext>
            </a:extLst>
          </p:cNvPr>
          <p:cNvSpPr>
            <a:spLocks noGrp="1"/>
          </p:cNvSpPr>
          <p:nvPr>
            <p:ph type="dt" sz="half" idx="10"/>
          </p:nvPr>
        </p:nvSpPr>
        <p:spPr/>
        <p:txBody>
          <a:bodyPr/>
          <a:lstStyle>
            <a:lvl1pPr>
              <a:defRPr/>
            </a:lvl1pPr>
          </a:lstStyle>
          <a:p>
            <a:endParaRPr lang="en-AU" altLang="en-US"/>
          </a:p>
        </p:txBody>
      </p:sp>
      <p:sp>
        <p:nvSpPr>
          <p:cNvPr id="5" name="Footer Placeholder 4">
            <a:extLst>
              <a:ext uri="{FF2B5EF4-FFF2-40B4-BE49-F238E27FC236}">
                <a16:creationId xmlns:a16="http://schemas.microsoft.com/office/drawing/2014/main" id="{121E6AD9-C045-51CA-2C0D-A45CCC1FE958}"/>
              </a:ext>
            </a:extLst>
          </p:cNvPr>
          <p:cNvSpPr>
            <a:spLocks noGrp="1"/>
          </p:cNvSpPr>
          <p:nvPr>
            <p:ph type="ftr" sz="quarter" idx="11"/>
          </p:nvPr>
        </p:nvSpPr>
        <p:spPr/>
        <p:txBody>
          <a:bodyPr/>
          <a:lstStyle>
            <a:lvl1pPr>
              <a:defRPr/>
            </a:lvl1pPr>
          </a:lstStyle>
          <a:p>
            <a:endParaRPr lang="en-AU" altLang="en-US"/>
          </a:p>
        </p:txBody>
      </p:sp>
      <p:sp>
        <p:nvSpPr>
          <p:cNvPr id="6" name="Slide Number Placeholder 5">
            <a:extLst>
              <a:ext uri="{FF2B5EF4-FFF2-40B4-BE49-F238E27FC236}">
                <a16:creationId xmlns:a16="http://schemas.microsoft.com/office/drawing/2014/main" id="{20E2101E-C922-A444-BFF0-987B0282BAF1}"/>
              </a:ext>
            </a:extLst>
          </p:cNvPr>
          <p:cNvSpPr>
            <a:spLocks noGrp="1"/>
          </p:cNvSpPr>
          <p:nvPr>
            <p:ph type="sldNum" sz="quarter" idx="12"/>
          </p:nvPr>
        </p:nvSpPr>
        <p:spPr/>
        <p:txBody>
          <a:bodyPr/>
          <a:lstStyle>
            <a:lvl1pPr>
              <a:defRPr/>
            </a:lvl1pPr>
          </a:lstStyle>
          <a:p>
            <a:fld id="{8C7972D7-639C-4449-868A-7B2DDB1DDFFE}" type="slidenum">
              <a:rPr lang="en-AU" altLang="en-US"/>
              <a:pPr/>
              <a:t>‹#›</a:t>
            </a:fld>
            <a:endParaRPr lang="en-AU" altLang="en-US"/>
          </a:p>
        </p:txBody>
      </p:sp>
    </p:spTree>
    <p:extLst>
      <p:ext uri="{BB962C8B-B14F-4D97-AF65-F5344CB8AC3E}">
        <p14:creationId xmlns:p14="http://schemas.microsoft.com/office/powerpoint/2010/main" val="25001598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E069A-9012-7642-35C8-CF8DB679A963}"/>
              </a:ext>
            </a:extLst>
          </p:cNvPr>
          <p:cNvSpPr>
            <a:spLocks noGrp="1"/>
          </p:cNvSpPr>
          <p:nvPr>
            <p:ph type="title"/>
          </p:nvPr>
        </p:nvSpPr>
        <p:spPr>
          <a:xfrm>
            <a:off x="623888" y="1709738"/>
            <a:ext cx="78867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2C601B3B-E184-B561-D3EA-3E9116E2E6E8}"/>
              </a:ext>
            </a:extLst>
          </p:cNvPr>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GB"/>
              <a:t>Click to edit Master text styles</a:t>
            </a:r>
          </a:p>
        </p:txBody>
      </p:sp>
      <p:sp>
        <p:nvSpPr>
          <p:cNvPr id="4" name="Date Placeholder 3">
            <a:extLst>
              <a:ext uri="{FF2B5EF4-FFF2-40B4-BE49-F238E27FC236}">
                <a16:creationId xmlns:a16="http://schemas.microsoft.com/office/drawing/2014/main" id="{BB59610A-E82F-D4AE-4953-68FDFCA11616}"/>
              </a:ext>
            </a:extLst>
          </p:cNvPr>
          <p:cNvSpPr>
            <a:spLocks noGrp="1"/>
          </p:cNvSpPr>
          <p:nvPr>
            <p:ph type="dt" sz="half" idx="10"/>
          </p:nvPr>
        </p:nvSpPr>
        <p:spPr/>
        <p:txBody>
          <a:bodyPr/>
          <a:lstStyle>
            <a:lvl1pPr>
              <a:defRPr/>
            </a:lvl1pPr>
          </a:lstStyle>
          <a:p>
            <a:endParaRPr lang="en-AU" altLang="en-US"/>
          </a:p>
        </p:txBody>
      </p:sp>
      <p:sp>
        <p:nvSpPr>
          <p:cNvPr id="5" name="Footer Placeholder 4">
            <a:extLst>
              <a:ext uri="{FF2B5EF4-FFF2-40B4-BE49-F238E27FC236}">
                <a16:creationId xmlns:a16="http://schemas.microsoft.com/office/drawing/2014/main" id="{B123CEC6-39D5-E1CB-B857-189FA5341A50}"/>
              </a:ext>
            </a:extLst>
          </p:cNvPr>
          <p:cNvSpPr>
            <a:spLocks noGrp="1"/>
          </p:cNvSpPr>
          <p:nvPr>
            <p:ph type="ftr" sz="quarter" idx="11"/>
          </p:nvPr>
        </p:nvSpPr>
        <p:spPr/>
        <p:txBody>
          <a:bodyPr/>
          <a:lstStyle>
            <a:lvl1pPr>
              <a:defRPr/>
            </a:lvl1pPr>
          </a:lstStyle>
          <a:p>
            <a:endParaRPr lang="en-AU" altLang="en-US"/>
          </a:p>
        </p:txBody>
      </p:sp>
      <p:sp>
        <p:nvSpPr>
          <p:cNvPr id="6" name="Slide Number Placeholder 5">
            <a:extLst>
              <a:ext uri="{FF2B5EF4-FFF2-40B4-BE49-F238E27FC236}">
                <a16:creationId xmlns:a16="http://schemas.microsoft.com/office/drawing/2014/main" id="{F6B46D77-FB1C-EB57-530A-678FAE6DCA54}"/>
              </a:ext>
            </a:extLst>
          </p:cNvPr>
          <p:cNvSpPr>
            <a:spLocks noGrp="1"/>
          </p:cNvSpPr>
          <p:nvPr>
            <p:ph type="sldNum" sz="quarter" idx="12"/>
          </p:nvPr>
        </p:nvSpPr>
        <p:spPr/>
        <p:txBody>
          <a:bodyPr/>
          <a:lstStyle>
            <a:lvl1pPr>
              <a:defRPr/>
            </a:lvl1pPr>
          </a:lstStyle>
          <a:p>
            <a:fld id="{F5912160-DD77-B44C-A1F0-FA2358DAD34E}" type="slidenum">
              <a:rPr lang="en-AU" altLang="en-US"/>
              <a:pPr/>
              <a:t>‹#›</a:t>
            </a:fld>
            <a:endParaRPr lang="en-AU" altLang="en-US"/>
          </a:p>
        </p:txBody>
      </p:sp>
    </p:spTree>
    <p:extLst>
      <p:ext uri="{BB962C8B-B14F-4D97-AF65-F5344CB8AC3E}">
        <p14:creationId xmlns:p14="http://schemas.microsoft.com/office/powerpoint/2010/main" val="4989049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C7916-5EEB-3471-2911-509000ECEB8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DFF4DFD-39EC-D34C-F31C-CDDA2F9B1868}"/>
              </a:ext>
            </a:extLst>
          </p:cNvPr>
          <p:cNvSpPr>
            <a:spLocks noGrp="1"/>
          </p:cNvSpPr>
          <p:nvPr>
            <p:ph sz="half" idx="1"/>
          </p:nvPr>
        </p:nvSpPr>
        <p:spPr>
          <a:xfrm>
            <a:off x="685800" y="1981200"/>
            <a:ext cx="3810000" cy="4114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9E4F655E-A8C9-A736-62C2-14A4E148C56C}"/>
              </a:ext>
            </a:extLst>
          </p:cNvPr>
          <p:cNvSpPr>
            <a:spLocks noGrp="1"/>
          </p:cNvSpPr>
          <p:nvPr>
            <p:ph sz="half" idx="2"/>
          </p:nvPr>
        </p:nvSpPr>
        <p:spPr>
          <a:xfrm>
            <a:off x="4648200" y="1981200"/>
            <a:ext cx="3810000" cy="4114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A66C9A19-D8D9-EF2A-B343-3F14ECEB061B}"/>
              </a:ext>
            </a:extLst>
          </p:cNvPr>
          <p:cNvSpPr>
            <a:spLocks noGrp="1"/>
          </p:cNvSpPr>
          <p:nvPr>
            <p:ph type="dt" sz="half" idx="10"/>
          </p:nvPr>
        </p:nvSpPr>
        <p:spPr/>
        <p:txBody>
          <a:bodyPr/>
          <a:lstStyle>
            <a:lvl1pPr>
              <a:defRPr/>
            </a:lvl1pPr>
          </a:lstStyle>
          <a:p>
            <a:endParaRPr lang="en-AU" altLang="en-US"/>
          </a:p>
        </p:txBody>
      </p:sp>
      <p:sp>
        <p:nvSpPr>
          <p:cNvPr id="6" name="Footer Placeholder 5">
            <a:extLst>
              <a:ext uri="{FF2B5EF4-FFF2-40B4-BE49-F238E27FC236}">
                <a16:creationId xmlns:a16="http://schemas.microsoft.com/office/drawing/2014/main" id="{0E2EEA47-BCAD-D347-A17B-EEA7CA3F37B9}"/>
              </a:ext>
            </a:extLst>
          </p:cNvPr>
          <p:cNvSpPr>
            <a:spLocks noGrp="1"/>
          </p:cNvSpPr>
          <p:nvPr>
            <p:ph type="ftr" sz="quarter" idx="11"/>
          </p:nvPr>
        </p:nvSpPr>
        <p:spPr/>
        <p:txBody>
          <a:bodyPr/>
          <a:lstStyle>
            <a:lvl1pPr>
              <a:defRPr/>
            </a:lvl1pPr>
          </a:lstStyle>
          <a:p>
            <a:endParaRPr lang="en-AU" altLang="en-US"/>
          </a:p>
        </p:txBody>
      </p:sp>
      <p:sp>
        <p:nvSpPr>
          <p:cNvPr id="7" name="Slide Number Placeholder 6">
            <a:extLst>
              <a:ext uri="{FF2B5EF4-FFF2-40B4-BE49-F238E27FC236}">
                <a16:creationId xmlns:a16="http://schemas.microsoft.com/office/drawing/2014/main" id="{C62222A8-B93A-8319-895D-F586E87C5397}"/>
              </a:ext>
            </a:extLst>
          </p:cNvPr>
          <p:cNvSpPr>
            <a:spLocks noGrp="1"/>
          </p:cNvSpPr>
          <p:nvPr>
            <p:ph type="sldNum" sz="quarter" idx="12"/>
          </p:nvPr>
        </p:nvSpPr>
        <p:spPr/>
        <p:txBody>
          <a:bodyPr/>
          <a:lstStyle>
            <a:lvl1pPr>
              <a:defRPr/>
            </a:lvl1pPr>
          </a:lstStyle>
          <a:p>
            <a:fld id="{CC68B097-E7BF-9A49-90D7-BB834D107A50}" type="slidenum">
              <a:rPr lang="en-AU" altLang="en-US"/>
              <a:pPr/>
              <a:t>‹#›</a:t>
            </a:fld>
            <a:endParaRPr lang="en-AU" altLang="en-US"/>
          </a:p>
        </p:txBody>
      </p:sp>
    </p:spTree>
    <p:extLst>
      <p:ext uri="{BB962C8B-B14F-4D97-AF65-F5344CB8AC3E}">
        <p14:creationId xmlns:p14="http://schemas.microsoft.com/office/powerpoint/2010/main" val="78417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90D69-20B4-AF29-3F72-047BA0D1FE05}"/>
              </a:ext>
            </a:extLst>
          </p:cNvPr>
          <p:cNvSpPr>
            <a:spLocks noGrp="1"/>
          </p:cNvSpPr>
          <p:nvPr>
            <p:ph type="title"/>
          </p:nvPr>
        </p:nvSpPr>
        <p:spPr>
          <a:xfrm>
            <a:off x="630238" y="365125"/>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D39BD58-CFA7-D045-E464-134DCDFFA396}"/>
              </a:ext>
            </a:extLst>
          </p:cNvPr>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96E30979-8720-24F7-47DA-AA830B499054}"/>
              </a:ext>
            </a:extLst>
          </p:cNvPr>
          <p:cNvSpPr>
            <a:spLocks noGrp="1"/>
          </p:cNvSpPr>
          <p:nvPr>
            <p:ph sz="half" idx="2"/>
          </p:nvPr>
        </p:nvSpPr>
        <p:spPr>
          <a:xfrm>
            <a:off x="630238" y="2505075"/>
            <a:ext cx="386873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C580F27-0DD6-A76F-4D7A-CD754E875961}"/>
              </a:ext>
            </a:extLst>
          </p:cNvPr>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E91EBF-0A30-20DD-D43C-EDB887A517BF}"/>
              </a:ext>
            </a:extLst>
          </p:cNvPr>
          <p:cNvSpPr>
            <a:spLocks noGrp="1"/>
          </p:cNvSpPr>
          <p:nvPr>
            <p:ph sz="quarter" idx="4"/>
          </p:nvPr>
        </p:nvSpPr>
        <p:spPr>
          <a:xfrm>
            <a:off x="4629150" y="2505075"/>
            <a:ext cx="38877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FED1A85F-DA8E-9876-5F9F-F5906D514FCF}"/>
              </a:ext>
            </a:extLst>
          </p:cNvPr>
          <p:cNvSpPr>
            <a:spLocks noGrp="1"/>
          </p:cNvSpPr>
          <p:nvPr>
            <p:ph type="dt" sz="half" idx="10"/>
          </p:nvPr>
        </p:nvSpPr>
        <p:spPr/>
        <p:txBody>
          <a:bodyPr/>
          <a:lstStyle>
            <a:lvl1pPr>
              <a:defRPr/>
            </a:lvl1pPr>
          </a:lstStyle>
          <a:p>
            <a:endParaRPr lang="en-AU" altLang="en-US"/>
          </a:p>
        </p:txBody>
      </p:sp>
      <p:sp>
        <p:nvSpPr>
          <p:cNvPr id="8" name="Footer Placeholder 7">
            <a:extLst>
              <a:ext uri="{FF2B5EF4-FFF2-40B4-BE49-F238E27FC236}">
                <a16:creationId xmlns:a16="http://schemas.microsoft.com/office/drawing/2014/main" id="{58B7D93D-0459-7985-E083-FB29299792B7}"/>
              </a:ext>
            </a:extLst>
          </p:cNvPr>
          <p:cNvSpPr>
            <a:spLocks noGrp="1"/>
          </p:cNvSpPr>
          <p:nvPr>
            <p:ph type="ftr" sz="quarter" idx="11"/>
          </p:nvPr>
        </p:nvSpPr>
        <p:spPr/>
        <p:txBody>
          <a:bodyPr/>
          <a:lstStyle>
            <a:lvl1pPr>
              <a:defRPr/>
            </a:lvl1pPr>
          </a:lstStyle>
          <a:p>
            <a:endParaRPr lang="en-AU" altLang="en-US"/>
          </a:p>
        </p:txBody>
      </p:sp>
      <p:sp>
        <p:nvSpPr>
          <p:cNvPr id="9" name="Slide Number Placeholder 8">
            <a:extLst>
              <a:ext uri="{FF2B5EF4-FFF2-40B4-BE49-F238E27FC236}">
                <a16:creationId xmlns:a16="http://schemas.microsoft.com/office/drawing/2014/main" id="{C91E0690-8E03-A907-5256-FE30F3FD3A33}"/>
              </a:ext>
            </a:extLst>
          </p:cNvPr>
          <p:cNvSpPr>
            <a:spLocks noGrp="1"/>
          </p:cNvSpPr>
          <p:nvPr>
            <p:ph type="sldNum" sz="quarter" idx="12"/>
          </p:nvPr>
        </p:nvSpPr>
        <p:spPr/>
        <p:txBody>
          <a:bodyPr/>
          <a:lstStyle>
            <a:lvl1pPr>
              <a:defRPr/>
            </a:lvl1pPr>
          </a:lstStyle>
          <a:p>
            <a:fld id="{13FFB1E5-AB0B-AB41-95F0-E756680FA3FC}" type="slidenum">
              <a:rPr lang="en-AU" altLang="en-US"/>
              <a:pPr/>
              <a:t>‹#›</a:t>
            </a:fld>
            <a:endParaRPr lang="en-AU" altLang="en-US"/>
          </a:p>
        </p:txBody>
      </p:sp>
    </p:spTree>
    <p:extLst>
      <p:ext uri="{BB962C8B-B14F-4D97-AF65-F5344CB8AC3E}">
        <p14:creationId xmlns:p14="http://schemas.microsoft.com/office/powerpoint/2010/main" val="10206651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DE1E8-BF46-72F4-DA71-72F2DE54E83B}"/>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40F8670E-4E9B-42A8-404E-F702D6180E83}"/>
              </a:ext>
            </a:extLst>
          </p:cNvPr>
          <p:cNvSpPr>
            <a:spLocks noGrp="1"/>
          </p:cNvSpPr>
          <p:nvPr>
            <p:ph type="dt" sz="half" idx="10"/>
          </p:nvPr>
        </p:nvSpPr>
        <p:spPr/>
        <p:txBody>
          <a:bodyPr/>
          <a:lstStyle>
            <a:lvl1pPr>
              <a:defRPr/>
            </a:lvl1pPr>
          </a:lstStyle>
          <a:p>
            <a:endParaRPr lang="en-AU" altLang="en-US"/>
          </a:p>
        </p:txBody>
      </p:sp>
      <p:sp>
        <p:nvSpPr>
          <p:cNvPr id="4" name="Footer Placeholder 3">
            <a:extLst>
              <a:ext uri="{FF2B5EF4-FFF2-40B4-BE49-F238E27FC236}">
                <a16:creationId xmlns:a16="http://schemas.microsoft.com/office/drawing/2014/main" id="{2F35F31A-8C56-494A-94C6-BB733733DAD8}"/>
              </a:ext>
            </a:extLst>
          </p:cNvPr>
          <p:cNvSpPr>
            <a:spLocks noGrp="1"/>
          </p:cNvSpPr>
          <p:nvPr>
            <p:ph type="ftr" sz="quarter" idx="11"/>
          </p:nvPr>
        </p:nvSpPr>
        <p:spPr/>
        <p:txBody>
          <a:bodyPr/>
          <a:lstStyle>
            <a:lvl1pPr>
              <a:defRPr/>
            </a:lvl1pPr>
          </a:lstStyle>
          <a:p>
            <a:endParaRPr lang="en-AU" altLang="en-US"/>
          </a:p>
        </p:txBody>
      </p:sp>
      <p:sp>
        <p:nvSpPr>
          <p:cNvPr id="5" name="Slide Number Placeholder 4">
            <a:extLst>
              <a:ext uri="{FF2B5EF4-FFF2-40B4-BE49-F238E27FC236}">
                <a16:creationId xmlns:a16="http://schemas.microsoft.com/office/drawing/2014/main" id="{0D2A075C-8536-B7C7-8DDE-CE80B97D695F}"/>
              </a:ext>
            </a:extLst>
          </p:cNvPr>
          <p:cNvSpPr>
            <a:spLocks noGrp="1"/>
          </p:cNvSpPr>
          <p:nvPr>
            <p:ph type="sldNum" sz="quarter" idx="12"/>
          </p:nvPr>
        </p:nvSpPr>
        <p:spPr/>
        <p:txBody>
          <a:bodyPr/>
          <a:lstStyle>
            <a:lvl1pPr>
              <a:defRPr/>
            </a:lvl1pPr>
          </a:lstStyle>
          <a:p>
            <a:fld id="{FBF95137-D2F4-3E42-B2B8-93D58D05D395}" type="slidenum">
              <a:rPr lang="en-AU" altLang="en-US"/>
              <a:pPr/>
              <a:t>‹#›</a:t>
            </a:fld>
            <a:endParaRPr lang="en-AU" altLang="en-US"/>
          </a:p>
        </p:txBody>
      </p:sp>
    </p:spTree>
    <p:extLst>
      <p:ext uri="{BB962C8B-B14F-4D97-AF65-F5344CB8AC3E}">
        <p14:creationId xmlns:p14="http://schemas.microsoft.com/office/powerpoint/2010/main" val="3456973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D82142-FD0A-377C-2476-4957129300B2}"/>
              </a:ext>
            </a:extLst>
          </p:cNvPr>
          <p:cNvSpPr>
            <a:spLocks noGrp="1"/>
          </p:cNvSpPr>
          <p:nvPr>
            <p:ph type="dt" sz="half" idx="10"/>
          </p:nvPr>
        </p:nvSpPr>
        <p:spPr/>
        <p:txBody>
          <a:bodyPr/>
          <a:lstStyle>
            <a:lvl1pPr>
              <a:defRPr/>
            </a:lvl1pPr>
          </a:lstStyle>
          <a:p>
            <a:endParaRPr lang="en-AU" altLang="en-US"/>
          </a:p>
        </p:txBody>
      </p:sp>
      <p:sp>
        <p:nvSpPr>
          <p:cNvPr id="3" name="Footer Placeholder 2">
            <a:extLst>
              <a:ext uri="{FF2B5EF4-FFF2-40B4-BE49-F238E27FC236}">
                <a16:creationId xmlns:a16="http://schemas.microsoft.com/office/drawing/2014/main" id="{4D638B0C-C1C2-3CB2-7572-AA88A7788244}"/>
              </a:ext>
            </a:extLst>
          </p:cNvPr>
          <p:cNvSpPr>
            <a:spLocks noGrp="1"/>
          </p:cNvSpPr>
          <p:nvPr>
            <p:ph type="ftr" sz="quarter" idx="11"/>
          </p:nvPr>
        </p:nvSpPr>
        <p:spPr/>
        <p:txBody>
          <a:bodyPr/>
          <a:lstStyle>
            <a:lvl1pPr>
              <a:defRPr/>
            </a:lvl1pPr>
          </a:lstStyle>
          <a:p>
            <a:endParaRPr lang="en-AU" altLang="en-US"/>
          </a:p>
        </p:txBody>
      </p:sp>
      <p:sp>
        <p:nvSpPr>
          <p:cNvPr id="4" name="Slide Number Placeholder 3">
            <a:extLst>
              <a:ext uri="{FF2B5EF4-FFF2-40B4-BE49-F238E27FC236}">
                <a16:creationId xmlns:a16="http://schemas.microsoft.com/office/drawing/2014/main" id="{92B540F3-60A9-8CBF-E86C-A99DDCE90953}"/>
              </a:ext>
            </a:extLst>
          </p:cNvPr>
          <p:cNvSpPr>
            <a:spLocks noGrp="1"/>
          </p:cNvSpPr>
          <p:nvPr>
            <p:ph type="sldNum" sz="quarter" idx="12"/>
          </p:nvPr>
        </p:nvSpPr>
        <p:spPr/>
        <p:txBody>
          <a:bodyPr/>
          <a:lstStyle>
            <a:lvl1pPr>
              <a:defRPr/>
            </a:lvl1pPr>
          </a:lstStyle>
          <a:p>
            <a:fld id="{BA9ED443-F584-3D4D-AAD2-71F2C36A7751}" type="slidenum">
              <a:rPr lang="en-AU" altLang="en-US"/>
              <a:pPr/>
              <a:t>‹#›</a:t>
            </a:fld>
            <a:endParaRPr lang="en-AU" altLang="en-US"/>
          </a:p>
        </p:txBody>
      </p:sp>
    </p:spTree>
    <p:extLst>
      <p:ext uri="{BB962C8B-B14F-4D97-AF65-F5344CB8AC3E}">
        <p14:creationId xmlns:p14="http://schemas.microsoft.com/office/powerpoint/2010/main" val="27304389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413A-2620-2C0B-1BA6-72A47DC8E4F7}"/>
              </a:ext>
            </a:extLst>
          </p:cNvPr>
          <p:cNvSpPr>
            <a:spLocks noGrp="1"/>
          </p:cNvSpPr>
          <p:nvPr>
            <p:ph type="title"/>
          </p:nvPr>
        </p:nvSpPr>
        <p:spPr>
          <a:xfrm>
            <a:off x="630238" y="457200"/>
            <a:ext cx="2949575"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58F98A3-53E1-9018-EB4E-F309F5605D47}"/>
              </a:ext>
            </a:extLst>
          </p:cNvPr>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E0F33321-69A5-01A6-DA9C-961E44762ADE}"/>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33E3D58-546A-7FA5-3DE8-03F9909E6A54}"/>
              </a:ext>
            </a:extLst>
          </p:cNvPr>
          <p:cNvSpPr>
            <a:spLocks noGrp="1"/>
          </p:cNvSpPr>
          <p:nvPr>
            <p:ph type="dt" sz="half" idx="10"/>
          </p:nvPr>
        </p:nvSpPr>
        <p:spPr/>
        <p:txBody>
          <a:bodyPr/>
          <a:lstStyle>
            <a:lvl1pPr>
              <a:defRPr/>
            </a:lvl1pPr>
          </a:lstStyle>
          <a:p>
            <a:endParaRPr lang="en-AU" altLang="en-US"/>
          </a:p>
        </p:txBody>
      </p:sp>
      <p:sp>
        <p:nvSpPr>
          <p:cNvPr id="6" name="Footer Placeholder 5">
            <a:extLst>
              <a:ext uri="{FF2B5EF4-FFF2-40B4-BE49-F238E27FC236}">
                <a16:creationId xmlns:a16="http://schemas.microsoft.com/office/drawing/2014/main" id="{7414A8CF-AB83-53D9-12B8-C2458BF0D0F8}"/>
              </a:ext>
            </a:extLst>
          </p:cNvPr>
          <p:cNvSpPr>
            <a:spLocks noGrp="1"/>
          </p:cNvSpPr>
          <p:nvPr>
            <p:ph type="ftr" sz="quarter" idx="11"/>
          </p:nvPr>
        </p:nvSpPr>
        <p:spPr/>
        <p:txBody>
          <a:bodyPr/>
          <a:lstStyle>
            <a:lvl1pPr>
              <a:defRPr/>
            </a:lvl1pPr>
          </a:lstStyle>
          <a:p>
            <a:endParaRPr lang="en-AU" altLang="en-US"/>
          </a:p>
        </p:txBody>
      </p:sp>
      <p:sp>
        <p:nvSpPr>
          <p:cNvPr id="7" name="Slide Number Placeholder 6">
            <a:extLst>
              <a:ext uri="{FF2B5EF4-FFF2-40B4-BE49-F238E27FC236}">
                <a16:creationId xmlns:a16="http://schemas.microsoft.com/office/drawing/2014/main" id="{49297ACF-8803-6289-FD75-D3148FB89C12}"/>
              </a:ext>
            </a:extLst>
          </p:cNvPr>
          <p:cNvSpPr>
            <a:spLocks noGrp="1"/>
          </p:cNvSpPr>
          <p:nvPr>
            <p:ph type="sldNum" sz="quarter" idx="12"/>
          </p:nvPr>
        </p:nvSpPr>
        <p:spPr/>
        <p:txBody>
          <a:bodyPr/>
          <a:lstStyle>
            <a:lvl1pPr>
              <a:defRPr/>
            </a:lvl1pPr>
          </a:lstStyle>
          <a:p>
            <a:fld id="{65C47700-77BF-9643-9AFC-0959EDF3C757}" type="slidenum">
              <a:rPr lang="en-AU" altLang="en-US"/>
              <a:pPr/>
              <a:t>‹#›</a:t>
            </a:fld>
            <a:endParaRPr lang="en-AU" altLang="en-US"/>
          </a:p>
        </p:txBody>
      </p:sp>
    </p:spTree>
    <p:extLst>
      <p:ext uri="{BB962C8B-B14F-4D97-AF65-F5344CB8AC3E}">
        <p14:creationId xmlns:p14="http://schemas.microsoft.com/office/powerpoint/2010/main" val="16283200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E9B38-3FC8-4575-AC53-C6DD6F457586}"/>
              </a:ext>
            </a:extLst>
          </p:cNvPr>
          <p:cNvSpPr>
            <a:spLocks noGrp="1"/>
          </p:cNvSpPr>
          <p:nvPr>
            <p:ph type="title"/>
          </p:nvPr>
        </p:nvSpPr>
        <p:spPr>
          <a:xfrm>
            <a:off x="630238" y="457200"/>
            <a:ext cx="2949575"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37B5BB5-72F8-698E-A054-3FEC23674B84}"/>
              </a:ext>
            </a:extLst>
          </p:cNvPr>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9988E72-E233-6A77-84BD-9792952052E5}"/>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8B303F-448F-4C37-9BF1-C8BCE7010E89}"/>
              </a:ext>
            </a:extLst>
          </p:cNvPr>
          <p:cNvSpPr>
            <a:spLocks noGrp="1"/>
          </p:cNvSpPr>
          <p:nvPr>
            <p:ph type="dt" sz="half" idx="10"/>
          </p:nvPr>
        </p:nvSpPr>
        <p:spPr/>
        <p:txBody>
          <a:bodyPr/>
          <a:lstStyle>
            <a:lvl1pPr>
              <a:defRPr/>
            </a:lvl1pPr>
          </a:lstStyle>
          <a:p>
            <a:endParaRPr lang="en-AU" altLang="en-US"/>
          </a:p>
        </p:txBody>
      </p:sp>
      <p:sp>
        <p:nvSpPr>
          <p:cNvPr id="6" name="Footer Placeholder 5">
            <a:extLst>
              <a:ext uri="{FF2B5EF4-FFF2-40B4-BE49-F238E27FC236}">
                <a16:creationId xmlns:a16="http://schemas.microsoft.com/office/drawing/2014/main" id="{189ED572-E8F5-4FDC-674C-1D5DD5AB0280}"/>
              </a:ext>
            </a:extLst>
          </p:cNvPr>
          <p:cNvSpPr>
            <a:spLocks noGrp="1"/>
          </p:cNvSpPr>
          <p:nvPr>
            <p:ph type="ftr" sz="quarter" idx="11"/>
          </p:nvPr>
        </p:nvSpPr>
        <p:spPr/>
        <p:txBody>
          <a:bodyPr/>
          <a:lstStyle>
            <a:lvl1pPr>
              <a:defRPr/>
            </a:lvl1pPr>
          </a:lstStyle>
          <a:p>
            <a:endParaRPr lang="en-AU" altLang="en-US"/>
          </a:p>
        </p:txBody>
      </p:sp>
      <p:sp>
        <p:nvSpPr>
          <p:cNvPr id="7" name="Slide Number Placeholder 6">
            <a:extLst>
              <a:ext uri="{FF2B5EF4-FFF2-40B4-BE49-F238E27FC236}">
                <a16:creationId xmlns:a16="http://schemas.microsoft.com/office/drawing/2014/main" id="{C34F959C-7C71-73E2-856F-D3B2CBA33E2E}"/>
              </a:ext>
            </a:extLst>
          </p:cNvPr>
          <p:cNvSpPr>
            <a:spLocks noGrp="1"/>
          </p:cNvSpPr>
          <p:nvPr>
            <p:ph type="sldNum" sz="quarter" idx="12"/>
          </p:nvPr>
        </p:nvSpPr>
        <p:spPr/>
        <p:txBody>
          <a:bodyPr/>
          <a:lstStyle>
            <a:lvl1pPr>
              <a:defRPr/>
            </a:lvl1pPr>
          </a:lstStyle>
          <a:p>
            <a:fld id="{33F32D61-154E-894D-B6AE-D47DBD1419D1}" type="slidenum">
              <a:rPr lang="en-AU" altLang="en-US"/>
              <a:pPr/>
              <a:t>‹#›</a:t>
            </a:fld>
            <a:endParaRPr lang="en-AU" altLang="en-US"/>
          </a:p>
        </p:txBody>
      </p:sp>
    </p:spTree>
    <p:extLst>
      <p:ext uri="{BB962C8B-B14F-4D97-AF65-F5344CB8AC3E}">
        <p14:creationId xmlns:p14="http://schemas.microsoft.com/office/powerpoint/2010/main" val="12502365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610F5-8CE5-83AD-4159-5741CCE9734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009FC98-3912-2D25-7C9D-00B82787FCE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860A631-B9A4-DC81-01E1-DB6B9539A78B}"/>
              </a:ext>
            </a:extLst>
          </p:cNvPr>
          <p:cNvSpPr>
            <a:spLocks noGrp="1"/>
          </p:cNvSpPr>
          <p:nvPr>
            <p:ph type="dt" sz="half" idx="10"/>
          </p:nvPr>
        </p:nvSpPr>
        <p:spPr/>
        <p:txBody>
          <a:bodyPr/>
          <a:lstStyle>
            <a:lvl1pPr>
              <a:defRPr/>
            </a:lvl1pPr>
          </a:lstStyle>
          <a:p>
            <a:endParaRPr lang="en-AU" altLang="en-US"/>
          </a:p>
        </p:txBody>
      </p:sp>
      <p:sp>
        <p:nvSpPr>
          <p:cNvPr id="5" name="Footer Placeholder 4">
            <a:extLst>
              <a:ext uri="{FF2B5EF4-FFF2-40B4-BE49-F238E27FC236}">
                <a16:creationId xmlns:a16="http://schemas.microsoft.com/office/drawing/2014/main" id="{1026FA07-925B-5F73-8D67-A96AABA0688D}"/>
              </a:ext>
            </a:extLst>
          </p:cNvPr>
          <p:cNvSpPr>
            <a:spLocks noGrp="1"/>
          </p:cNvSpPr>
          <p:nvPr>
            <p:ph type="ftr" sz="quarter" idx="11"/>
          </p:nvPr>
        </p:nvSpPr>
        <p:spPr/>
        <p:txBody>
          <a:bodyPr/>
          <a:lstStyle>
            <a:lvl1pPr>
              <a:defRPr/>
            </a:lvl1pPr>
          </a:lstStyle>
          <a:p>
            <a:endParaRPr lang="en-AU" altLang="en-US"/>
          </a:p>
        </p:txBody>
      </p:sp>
      <p:sp>
        <p:nvSpPr>
          <p:cNvPr id="6" name="Slide Number Placeholder 5">
            <a:extLst>
              <a:ext uri="{FF2B5EF4-FFF2-40B4-BE49-F238E27FC236}">
                <a16:creationId xmlns:a16="http://schemas.microsoft.com/office/drawing/2014/main" id="{BB91BD68-9C05-52E0-EF59-D7B37C5859C7}"/>
              </a:ext>
            </a:extLst>
          </p:cNvPr>
          <p:cNvSpPr>
            <a:spLocks noGrp="1"/>
          </p:cNvSpPr>
          <p:nvPr>
            <p:ph type="sldNum" sz="quarter" idx="12"/>
          </p:nvPr>
        </p:nvSpPr>
        <p:spPr/>
        <p:txBody>
          <a:bodyPr/>
          <a:lstStyle>
            <a:lvl1pPr>
              <a:defRPr/>
            </a:lvl1pPr>
          </a:lstStyle>
          <a:p>
            <a:fld id="{A59019EB-FB1D-1C4D-B190-7543AF1B0FE4}" type="slidenum">
              <a:rPr lang="en-AU" altLang="en-US"/>
              <a:pPr/>
              <a:t>‹#›</a:t>
            </a:fld>
            <a:endParaRPr lang="en-AU" altLang="en-US"/>
          </a:p>
        </p:txBody>
      </p:sp>
    </p:spTree>
    <p:extLst>
      <p:ext uri="{BB962C8B-B14F-4D97-AF65-F5344CB8AC3E}">
        <p14:creationId xmlns:p14="http://schemas.microsoft.com/office/powerpoint/2010/main" val="1129606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5B3E1F-C0E8-6EED-D22B-0FFB3F66A885}"/>
              </a:ext>
            </a:extLst>
          </p:cNvPr>
          <p:cNvSpPr>
            <a:spLocks noGrp="1"/>
          </p:cNvSpPr>
          <p:nvPr>
            <p:ph type="title" orient="vert"/>
          </p:nvPr>
        </p:nvSpPr>
        <p:spPr>
          <a:xfrm>
            <a:off x="6515100" y="609600"/>
            <a:ext cx="1943100" cy="5486400"/>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940D085-909C-8DBE-FC9D-29E70143C674}"/>
              </a:ext>
            </a:extLst>
          </p:cNvPr>
          <p:cNvSpPr>
            <a:spLocks noGrp="1"/>
          </p:cNvSpPr>
          <p:nvPr>
            <p:ph type="body" orient="vert" idx="1"/>
          </p:nvPr>
        </p:nvSpPr>
        <p:spPr>
          <a:xfrm>
            <a:off x="685800" y="609600"/>
            <a:ext cx="5676900" cy="5486400"/>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630A4A2-D433-A7AF-1DDF-77750CD73403}"/>
              </a:ext>
            </a:extLst>
          </p:cNvPr>
          <p:cNvSpPr>
            <a:spLocks noGrp="1"/>
          </p:cNvSpPr>
          <p:nvPr>
            <p:ph type="dt" sz="half" idx="10"/>
          </p:nvPr>
        </p:nvSpPr>
        <p:spPr/>
        <p:txBody>
          <a:bodyPr/>
          <a:lstStyle>
            <a:lvl1pPr>
              <a:defRPr/>
            </a:lvl1pPr>
          </a:lstStyle>
          <a:p>
            <a:endParaRPr lang="en-AU" altLang="en-US"/>
          </a:p>
        </p:txBody>
      </p:sp>
      <p:sp>
        <p:nvSpPr>
          <p:cNvPr id="5" name="Footer Placeholder 4">
            <a:extLst>
              <a:ext uri="{FF2B5EF4-FFF2-40B4-BE49-F238E27FC236}">
                <a16:creationId xmlns:a16="http://schemas.microsoft.com/office/drawing/2014/main" id="{5942D23B-9434-4036-C81B-95DF8895B414}"/>
              </a:ext>
            </a:extLst>
          </p:cNvPr>
          <p:cNvSpPr>
            <a:spLocks noGrp="1"/>
          </p:cNvSpPr>
          <p:nvPr>
            <p:ph type="ftr" sz="quarter" idx="11"/>
          </p:nvPr>
        </p:nvSpPr>
        <p:spPr/>
        <p:txBody>
          <a:bodyPr/>
          <a:lstStyle>
            <a:lvl1pPr>
              <a:defRPr/>
            </a:lvl1pPr>
          </a:lstStyle>
          <a:p>
            <a:endParaRPr lang="en-AU" altLang="en-US"/>
          </a:p>
        </p:txBody>
      </p:sp>
      <p:sp>
        <p:nvSpPr>
          <p:cNvPr id="6" name="Slide Number Placeholder 5">
            <a:extLst>
              <a:ext uri="{FF2B5EF4-FFF2-40B4-BE49-F238E27FC236}">
                <a16:creationId xmlns:a16="http://schemas.microsoft.com/office/drawing/2014/main" id="{2A1972EE-90A0-D223-3FDD-C7BC68069B42}"/>
              </a:ext>
            </a:extLst>
          </p:cNvPr>
          <p:cNvSpPr>
            <a:spLocks noGrp="1"/>
          </p:cNvSpPr>
          <p:nvPr>
            <p:ph type="sldNum" sz="quarter" idx="12"/>
          </p:nvPr>
        </p:nvSpPr>
        <p:spPr/>
        <p:txBody>
          <a:bodyPr/>
          <a:lstStyle>
            <a:lvl1pPr>
              <a:defRPr/>
            </a:lvl1pPr>
          </a:lstStyle>
          <a:p>
            <a:fld id="{78BEE4DD-19C8-5A49-86E4-D422243879BC}" type="slidenum">
              <a:rPr lang="en-AU" altLang="en-US"/>
              <a:pPr/>
              <a:t>‹#›</a:t>
            </a:fld>
            <a:endParaRPr lang="en-AU" altLang="en-US"/>
          </a:p>
        </p:txBody>
      </p:sp>
    </p:spTree>
    <p:extLst>
      <p:ext uri="{BB962C8B-B14F-4D97-AF65-F5344CB8AC3E}">
        <p14:creationId xmlns:p14="http://schemas.microsoft.com/office/powerpoint/2010/main" val="3591038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DFE85454-DFCA-4526-1CEC-8337B25C72E7}"/>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AU" altLang="en-US"/>
              <a:t>Click to edit Master title style</a:t>
            </a:r>
          </a:p>
        </p:txBody>
      </p:sp>
      <p:sp>
        <p:nvSpPr>
          <p:cNvPr id="1027" name="Rectangle 3">
            <a:extLst>
              <a:ext uri="{FF2B5EF4-FFF2-40B4-BE49-F238E27FC236}">
                <a16:creationId xmlns:a16="http://schemas.microsoft.com/office/drawing/2014/main" id="{F9C9C93D-98A8-A472-DACD-B3149A436D55}"/>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AU" altLang="en-US"/>
              <a:t>Click to edit Master text styles</a:t>
            </a:r>
          </a:p>
          <a:p>
            <a:pPr lvl="1"/>
            <a:r>
              <a:rPr lang="en-AU" altLang="en-US"/>
              <a:t>Second level</a:t>
            </a:r>
          </a:p>
          <a:p>
            <a:pPr lvl="2"/>
            <a:r>
              <a:rPr lang="en-AU" altLang="en-US"/>
              <a:t>Third level</a:t>
            </a:r>
          </a:p>
          <a:p>
            <a:pPr lvl="3"/>
            <a:r>
              <a:rPr lang="en-AU" altLang="en-US"/>
              <a:t>Fourth level</a:t>
            </a:r>
          </a:p>
          <a:p>
            <a:pPr lvl="4"/>
            <a:r>
              <a:rPr lang="en-AU" altLang="en-US"/>
              <a:t>Fifth level</a:t>
            </a:r>
          </a:p>
        </p:txBody>
      </p:sp>
      <p:sp>
        <p:nvSpPr>
          <p:cNvPr id="1028" name="Rectangle 4">
            <a:extLst>
              <a:ext uri="{FF2B5EF4-FFF2-40B4-BE49-F238E27FC236}">
                <a16:creationId xmlns:a16="http://schemas.microsoft.com/office/drawing/2014/main" id="{1D35ED01-DAB7-B505-B46D-F777E46D93BF}"/>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endParaRPr lang="en-AU" altLang="en-US"/>
          </a:p>
        </p:txBody>
      </p:sp>
      <p:sp>
        <p:nvSpPr>
          <p:cNvPr id="1029" name="Rectangle 5">
            <a:extLst>
              <a:ext uri="{FF2B5EF4-FFF2-40B4-BE49-F238E27FC236}">
                <a16:creationId xmlns:a16="http://schemas.microsoft.com/office/drawing/2014/main" id="{B29D7CB4-CF2D-69D2-92EC-638071FFDB32}"/>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lvl1pPr>
          </a:lstStyle>
          <a:p>
            <a:endParaRPr lang="en-AU" altLang="en-US"/>
          </a:p>
        </p:txBody>
      </p:sp>
      <p:sp>
        <p:nvSpPr>
          <p:cNvPr id="1030" name="Rectangle 6">
            <a:extLst>
              <a:ext uri="{FF2B5EF4-FFF2-40B4-BE49-F238E27FC236}">
                <a16:creationId xmlns:a16="http://schemas.microsoft.com/office/drawing/2014/main" id="{F09AFE6B-475C-FD69-3688-6C9A6522C4C7}"/>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vl1pPr>
          </a:lstStyle>
          <a:p>
            <a:fld id="{46C1D02D-30D1-AF49-A175-B76AB0277896}" type="slidenum">
              <a:rPr lang="en-AU" altLang="en-US"/>
              <a:pPr/>
              <a:t>‹#›</a:t>
            </a:fld>
            <a:endParaRPr lang="en-AU"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fontAlgn="base">
        <a:spcBef>
          <a:spcPct val="0"/>
        </a:spcBef>
        <a:spcAft>
          <a:spcPct val="0"/>
        </a:spcAft>
        <a:defRPr sz="4400" kern="1200">
          <a:solidFill>
            <a:schemeClr val="tx2"/>
          </a:solidFill>
          <a:latin typeface="+mj-lt"/>
          <a:ea typeface="+mj-ea"/>
          <a:cs typeface="+mj-cs"/>
        </a:defRPr>
      </a:lvl1pPr>
      <a:lvl2pPr algn="ctr" rtl="0" fontAlgn="base">
        <a:spcBef>
          <a:spcPct val="0"/>
        </a:spcBef>
        <a:spcAft>
          <a:spcPct val="0"/>
        </a:spcAft>
        <a:defRPr sz="4400">
          <a:solidFill>
            <a:schemeClr val="tx2"/>
          </a:solidFill>
          <a:latin typeface="Times New Roman" panose="02020603050405020304" pitchFamily="18" charset="0"/>
        </a:defRPr>
      </a:lvl2pPr>
      <a:lvl3pPr algn="ctr" rtl="0" fontAlgn="base">
        <a:spcBef>
          <a:spcPct val="0"/>
        </a:spcBef>
        <a:spcAft>
          <a:spcPct val="0"/>
        </a:spcAft>
        <a:defRPr sz="4400">
          <a:solidFill>
            <a:schemeClr val="tx2"/>
          </a:solidFill>
          <a:latin typeface="Times New Roman" panose="02020603050405020304" pitchFamily="18" charset="0"/>
        </a:defRPr>
      </a:lvl3pPr>
      <a:lvl4pPr algn="ctr" rtl="0" fontAlgn="base">
        <a:spcBef>
          <a:spcPct val="0"/>
        </a:spcBef>
        <a:spcAft>
          <a:spcPct val="0"/>
        </a:spcAft>
        <a:defRPr sz="4400">
          <a:solidFill>
            <a:schemeClr val="tx2"/>
          </a:solidFill>
          <a:latin typeface="Times New Roman" panose="02020603050405020304" pitchFamily="18" charset="0"/>
        </a:defRPr>
      </a:lvl4pPr>
      <a:lvl5pPr algn="ctr" rtl="0" fontAlgn="base">
        <a:spcBef>
          <a:spcPct val="0"/>
        </a:spcBef>
        <a:spcAft>
          <a:spcPct val="0"/>
        </a:spcAft>
        <a:defRPr sz="4400">
          <a:solidFill>
            <a:schemeClr val="tx2"/>
          </a:solidFill>
          <a:latin typeface="Times New Roman" panose="02020603050405020304" pitchFamily="18" charset="0"/>
        </a:defRPr>
      </a:lvl5pPr>
      <a:lvl6pPr marL="457200" algn="ctr" rtl="0" fontAlgn="base">
        <a:spcBef>
          <a:spcPct val="0"/>
        </a:spcBef>
        <a:spcAft>
          <a:spcPct val="0"/>
        </a:spcAft>
        <a:defRPr sz="4400">
          <a:solidFill>
            <a:schemeClr val="tx2"/>
          </a:solidFill>
          <a:latin typeface="Times New Roman" panose="02020603050405020304" pitchFamily="18" charset="0"/>
        </a:defRPr>
      </a:lvl6pPr>
      <a:lvl7pPr marL="914400" algn="ctr" rtl="0" fontAlgn="base">
        <a:spcBef>
          <a:spcPct val="0"/>
        </a:spcBef>
        <a:spcAft>
          <a:spcPct val="0"/>
        </a:spcAft>
        <a:defRPr sz="4400">
          <a:solidFill>
            <a:schemeClr val="tx2"/>
          </a:solidFill>
          <a:latin typeface="Times New Roman" panose="02020603050405020304" pitchFamily="18" charset="0"/>
        </a:defRPr>
      </a:lvl7pPr>
      <a:lvl8pPr marL="1371600" algn="ctr" rtl="0" fontAlgn="base">
        <a:spcBef>
          <a:spcPct val="0"/>
        </a:spcBef>
        <a:spcAft>
          <a:spcPct val="0"/>
        </a:spcAft>
        <a:defRPr sz="4400">
          <a:solidFill>
            <a:schemeClr val="tx2"/>
          </a:solidFill>
          <a:latin typeface="Times New Roman" panose="02020603050405020304" pitchFamily="18" charset="0"/>
        </a:defRPr>
      </a:lvl8pPr>
      <a:lvl9pPr marL="1828800" algn="ctr" rtl="0" fontAlgn="base">
        <a:spcBef>
          <a:spcPct val="0"/>
        </a:spcBef>
        <a:spcAft>
          <a:spcPct val="0"/>
        </a:spcAft>
        <a:defRPr sz="4400">
          <a:solidFill>
            <a:schemeClr val="tx2"/>
          </a:solidFill>
          <a:latin typeface="Times New Roman" panose="02020603050405020304" pitchFamily="18" charset="0"/>
        </a:defRPr>
      </a:lvl9pPr>
    </p:titleStyle>
    <p:bodyStyle>
      <a:lvl1pPr marL="342900" indent="-342900" algn="l" rtl="0" fontAlgn="base">
        <a:spcBef>
          <a:spcPct val="20000"/>
        </a:spcBef>
        <a:spcAft>
          <a:spcPct val="0"/>
        </a:spcAft>
        <a:buChar char="•"/>
        <a:defRPr sz="3200" b="1" kern="1200">
          <a:solidFill>
            <a:schemeClr val="tx1"/>
          </a:solidFill>
          <a:latin typeface="+mn-lt"/>
          <a:ea typeface="+mn-ea"/>
          <a:cs typeface="+mn-cs"/>
        </a:defRPr>
      </a:lvl1pPr>
      <a:lvl2pPr marL="742950" indent="-285750" algn="l" rtl="0" fontAlgn="base">
        <a:spcBef>
          <a:spcPct val="20000"/>
        </a:spcBef>
        <a:spcAft>
          <a:spcPct val="0"/>
        </a:spcAft>
        <a:buChar char="–"/>
        <a:defRPr sz="2800" b="1" kern="1200">
          <a:solidFill>
            <a:schemeClr val="tx1"/>
          </a:solidFill>
          <a:latin typeface="+mn-lt"/>
          <a:ea typeface="+mn-ea"/>
          <a:cs typeface="+mn-cs"/>
        </a:defRPr>
      </a:lvl2pPr>
      <a:lvl3pPr marL="1143000" indent="-228600" algn="l" rtl="0" fontAlgn="base">
        <a:spcBef>
          <a:spcPct val="20000"/>
        </a:spcBef>
        <a:spcAft>
          <a:spcPct val="0"/>
        </a:spcAft>
        <a:buChar char="•"/>
        <a:defRPr sz="2400" b="1" kern="1200">
          <a:solidFill>
            <a:schemeClr val="tx1"/>
          </a:solidFill>
          <a:latin typeface="+mn-lt"/>
          <a:ea typeface="+mn-ea"/>
          <a:cs typeface="+mn-cs"/>
        </a:defRPr>
      </a:lvl3pPr>
      <a:lvl4pPr marL="1600200" indent="-228600" algn="l" rtl="0" fontAlgn="base">
        <a:spcBef>
          <a:spcPct val="20000"/>
        </a:spcBef>
        <a:spcAft>
          <a:spcPct val="0"/>
        </a:spcAft>
        <a:buChar char="–"/>
        <a:defRPr sz="2000" b="1" kern="1200">
          <a:solidFill>
            <a:schemeClr val="tx1"/>
          </a:solidFill>
          <a:latin typeface="+mn-lt"/>
          <a:ea typeface="+mn-ea"/>
          <a:cs typeface="+mn-cs"/>
        </a:defRPr>
      </a:lvl4pPr>
      <a:lvl5pPr marL="2057400" indent="-228600" algn="l" rtl="0" fontAlgn="base">
        <a:spcBef>
          <a:spcPct val="20000"/>
        </a:spcBef>
        <a:spcAft>
          <a:spcPct val="0"/>
        </a:spcAft>
        <a:buChar char="»"/>
        <a:defRPr sz="2000" b="1"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bin"/><Relationship Id="rId7" Type="http://schemas.openxmlformats.org/officeDocument/2006/relationships/image" Target="../media/image4.sv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oleObject" Target="../embeddings/oleObject1.bin"/><Relationship Id="rId7"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oleObject" Target="../embeddings/oleObject1.bin"/><Relationship Id="rId7"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9.png"/><Relationship Id="rId4" Type="http://schemas.openxmlformats.org/officeDocument/2006/relationships/image" Target="../media/image1.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oleObject" Target="../embeddings/oleObject1.bin"/><Relationship Id="rId7" Type="http://schemas.openxmlformats.org/officeDocument/2006/relationships/image" Target="../media/image4.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bin"/><Relationship Id="rId7"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bin"/><Relationship Id="rId7" Type="http://schemas.openxmlformats.org/officeDocument/2006/relationships/image" Target="../media/image4.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2FEB1-F147-08CC-6164-C3DF3C83E85D}"/>
            </a:ext>
          </a:extLst>
        </p:cNvPr>
        <p:cNvGrpSpPr/>
        <p:nvPr/>
      </p:nvGrpSpPr>
      <p:grpSpPr>
        <a:xfrm>
          <a:off x="0" y="0"/>
          <a:ext cx="0" cy="0"/>
          <a:chOff x="0" y="0"/>
          <a:chExt cx="0" cy="0"/>
        </a:xfrm>
      </p:grpSpPr>
      <p:sp>
        <p:nvSpPr>
          <p:cNvPr id="2054" name="Rectangle 6">
            <a:extLst>
              <a:ext uri="{FF2B5EF4-FFF2-40B4-BE49-F238E27FC236}">
                <a16:creationId xmlns:a16="http://schemas.microsoft.com/office/drawing/2014/main" id="{F8F08576-40FE-DA99-8E3B-38FF31CD3072}"/>
              </a:ext>
            </a:extLst>
          </p:cNvPr>
          <p:cNvSpPr>
            <a:spLocks noChangeArrowheads="1"/>
          </p:cNvSpPr>
          <p:nvPr/>
        </p:nvSpPr>
        <p:spPr bwMode="auto">
          <a:xfrm>
            <a:off x="0" y="5867400"/>
            <a:ext cx="2667000" cy="9906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aphicFrame>
        <p:nvGraphicFramePr>
          <p:cNvPr id="2055" name="Object 7">
            <a:extLst>
              <a:ext uri="{FF2B5EF4-FFF2-40B4-BE49-F238E27FC236}">
                <a16:creationId xmlns:a16="http://schemas.microsoft.com/office/drawing/2014/main" id="{6A88960F-AEF6-398C-4BB8-EC7134C4530D}"/>
              </a:ext>
            </a:extLst>
          </p:cNvPr>
          <p:cNvGraphicFramePr>
            <a:graphicFrameLocks noChangeAspect="1"/>
          </p:cNvGraphicFramePr>
          <p:nvPr/>
        </p:nvGraphicFramePr>
        <p:xfrm>
          <a:off x="7380312" y="6352340"/>
          <a:ext cx="1763688" cy="505660"/>
        </p:xfrm>
        <a:graphic>
          <a:graphicData uri="http://schemas.openxmlformats.org/presentationml/2006/ole">
            <mc:AlternateContent xmlns:mc="http://schemas.openxmlformats.org/markup-compatibility/2006">
              <mc:Choice xmlns:v="urn:schemas-microsoft-com:vml" Requires="v">
                <p:oleObj name="Image" r:id="rId3" imgW="13106400" imgH="3752850" progId="Photoshop.Image.6">
                  <p:embed/>
                </p:oleObj>
              </mc:Choice>
              <mc:Fallback>
                <p:oleObj name="Image" r:id="rId3" imgW="13106400" imgH="3752850" progId="Photoshop.Image.6">
                  <p:embed/>
                  <p:pic>
                    <p:nvPicPr>
                      <p:cNvPr id="2055" name="Object 7">
                        <a:extLst>
                          <a:ext uri="{FF2B5EF4-FFF2-40B4-BE49-F238E27FC236}">
                            <a16:creationId xmlns:a16="http://schemas.microsoft.com/office/drawing/2014/main" id="{C2046DEA-A683-0772-47A0-4C034A6BEE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0312" y="6352340"/>
                        <a:ext cx="1763688" cy="505660"/>
                      </a:xfrm>
                      <a:prstGeom prst="rect">
                        <a:avLst/>
                      </a:prstGeom>
                      <a:noFill/>
                      <a:ln>
                        <a:noFill/>
                      </a:ln>
                      <a:effectLst/>
                    </p:spPr>
                  </p:pic>
                </p:oleObj>
              </mc:Fallback>
            </mc:AlternateContent>
          </a:graphicData>
        </a:graphic>
      </p:graphicFrame>
      <p:pic>
        <p:nvPicPr>
          <p:cNvPr id="5" name="Picture 4">
            <a:extLst>
              <a:ext uri="{FF2B5EF4-FFF2-40B4-BE49-F238E27FC236}">
                <a16:creationId xmlns:a16="http://schemas.microsoft.com/office/drawing/2014/main" id="{B0ABE43F-81C1-E7DC-2A0A-E550A213829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6522" y="455476"/>
            <a:ext cx="2565994" cy="216024"/>
          </a:xfrm>
          <a:prstGeom prst="rect">
            <a:avLst/>
          </a:prstGeom>
        </p:spPr>
      </p:pic>
      <p:sp>
        <p:nvSpPr>
          <p:cNvPr id="7" name="Rectangle 6">
            <a:extLst>
              <a:ext uri="{FF2B5EF4-FFF2-40B4-BE49-F238E27FC236}">
                <a16:creationId xmlns:a16="http://schemas.microsoft.com/office/drawing/2014/main" id="{CF3A7FD1-DA06-69B5-28CA-D66ABA7F574D}"/>
              </a:ext>
            </a:extLst>
          </p:cNvPr>
          <p:cNvSpPr/>
          <p:nvPr/>
        </p:nvSpPr>
        <p:spPr>
          <a:xfrm>
            <a:off x="0" y="836712"/>
            <a:ext cx="9144000" cy="144016"/>
          </a:xfrm>
          <a:prstGeom prst="rect">
            <a:avLst/>
          </a:prstGeom>
          <a:solidFill>
            <a:srgbClr val="FFCB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52628F6-454D-1E81-BD91-DF0B35886EF3}"/>
              </a:ext>
            </a:extLst>
          </p:cNvPr>
          <p:cNvSpPr txBox="1"/>
          <p:nvPr/>
        </p:nvSpPr>
        <p:spPr>
          <a:xfrm>
            <a:off x="179512" y="332656"/>
            <a:ext cx="6984776" cy="369332"/>
          </a:xfrm>
          <a:prstGeom prst="rect">
            <a:avLst/>
          </a:prstGeom>
          <a:noFill/>
        </p:spPr>
        <p:txBody>
          <a:bodyPr wrap="square" rtlCol="0">
            <a:spAutoFit/>
          </a:bodyPr>
          <a:lstStyle/>
          <a:p>
            <a:r>
              <a:rPr lang="en-GB" sz="1800" b="1" dirty="0">
                <a:latin typeface="Arial Nova Cond" panose="020B0504020202020204" pitchFamily="34" charset="0"/>
                <a:ea typeface="Apple Symbols" panose="02000000000000000000" pitchFamily="2" charset="-79"/>
                <a:cs typeface="Arial Nova" panose="020F0502020204030204" pitchFamily="34" charset="0"/>
              </a:rPr>
              <a:t>Executive Summary</a:t>
            </a:r>
            <a:endParaRPr lang="en-US" sz="1800" b="1" dirty="0">
              <a:latin typeface="Arial Nova Cond" panose="020B0504020202020204" pitchFamily="34" charset="0"/>
              <a:ea typeface="Apple Symbols" panose="02000000000000000000" pitchFamily="2" charset="-79"/>
              <a:cs typeface="Arial Nova" panose="020F0502020204030204" pitchFamily="34" charset="0"/>
            </a:endParaRPr>
          </a:p>
        </p:txBody>
      </p:sp>
      <p:pic>
        <p:nvPicPr>
          <p:cNvPr id="15" name="Graphic 14">
            <a:extLst>
              <a:ext uri="{FF2B5EF4-FFF2-40B4-BE49-F238E27FC236}">
                <a16:creationId xmlns:a16="http://schemas.microsoft.com/office/drawing/2014/main" id="{997ED389-76C9-8ABD-1020-10403BE1A63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362" y="6469033"/>
            <a:ext cx="1069132" cy="280453"/>
          </a:xfrm>
          <a:prstGeom prst="rect">
            <a:avLst/>
          </a:prstGeom>
        </p:spPr>
      </p:pic>
      <p:graphicFrame>
        <p:nvGraphicFramePr>
          <p:cNvPr id="23" name="Table 22">
            <a:extLst>
              <a:ext uri="{FF2B5EF4-FFF2-40B4-BE49-F238E27FC236}">
                <a16:creationId xmlns:a16="http://schemas.microsoft.com/office/drawing/2014/main" id="{510A457C-CE4E-27E6-D747-049B5DB95FA2}"/>
              </a:ext>
            </a:extLst>
          </p:cNvPr>
          <p:cNvGraphicFramePr>
            <a:graphicFrameLocks noGrp="1"/>
          </p:cNvGraphicFramePr>
          <p:nvPr>
            <p:extLst>
              <p:ext uri="{D42A27DB-BD31-4B8C-83A1-F6EECF244321}">
                <p14:modId xmlns:p14="http://schemas.microsoft.com/office/powerpoint/2010/main" val="3783954493"/>
              </p:ext>
            </p:extLst>
          </p:nvPr>
        </p:nvGraphicFramePr>
        <p:xfrm>
          <a:off x="736928" y="1839200"/>
          <a:ext cx="7776864" cy="2926080"/>
        </p:xfrm>
        <a:graphic>
          <a:graphicData uri="http://schemas.openxmlformats.org/drawingml/2006/table">
            <a:tbl>
              <a:tblPr/>
              <a:tblGrid>
                <a:gridCol w="2594272">
                  <a:extLst>
                    <a:ext uri="{9D8B030D-6E8A-4147-A177-3AD203B41FA5}">
                      <a16:colId xmlns:a16="http://schemas.microsoft.com/office/drawing/2014/main" val="878009797"/>
                    </a:ext>
                  </a:extLst>
                </a:gridCol>
                <a:gridCol w="2591296">
                  <a:extLst>
                    <a:ext uri="{9D8B030D-6E8A-4147-A177-3AD203B41FA5}">
                      <a16:colId xmlns:a16="http://schemas.microsoft.com/office/drawing/2014/main" val="1322462571"/>
                    </a:ext>
                  </a:extLst>
                </a:gridCol>
                <a:gridCol w="2591296">
                  <a:extLst>
                    <a:ext uri="{9D8B030D-6E8A-4147-A177-3AD203B41FA5}">
                      <a16:colId xmlns:a16="http://schemas.microsoft.com/office/drawing/2014/main" val="4095695095"/>
                    </a:ext>
                  </a:extLst>
                </a:gridCol>
              </a:tblGrid>
              <a:tr h="0">
                <a:tc>
                  <a:txBody>
                    <a:bodyPr/>
                    <a:lstStyle/>
                    <a:p>
                      <a:r>
                        <a:rPr lang="en-GB" sz="1200" b="1" i="0" dirty="0">
                          <a:latin typeface="Arial Nova" panose="020B0504020202020204" pitchFamily="34" charset="0"/>
                        </a:rPr>
                        <a:t>The Business Challenge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r>
                        <a:rPr lang="en-GB" sz="1200" b="1" i="0" dirty="0">
                          <a:latin typeface="Arial Nova" panose="020B0504020202020204" pitchFamily="34" charset="0"/>
                        </a:rPr>
                        <a:t>Approach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r>
                        <a:rPr lang="en-GB" sz="1200" b="1" i="0" dirty="0">
                          <a:latin typeface="Arial Nova" panose="020B0504020202020204" pitchFamily="34" charset="0"/>
                        </a:rPr>
                        <a:t>Key Questions Addressed.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extLst>
                  <a:ext uri="{0D108BD9-81ED-4DB2-BD59-A6C34878D82A}">
                    <a16:rowId xmlns:a16="http://schemas.microsoft.com/office/drawing/2014/main" val="3743536389"/>
                  </a:ext>
                </a:extLst>
              </a:tr>
              <a:tr h="0">
                <a:tc>
                  <a:txBody>
                    <a:bodyPr/>
                    <a:lstStyle/>
                    <a:p>
                      <a:pPr marL="171450" indent="-171450">
                        <a:buFont typeface="Arial" panose="020B0604020202020204" pitchFamily="34" charset="0"/>
                        <a:buChar char="•"/>
                      </a:pPr>
                      <a:r>
                        <a:rPr lang="en-GB" sz="1200" b="0" i="0" dirty="0">
                          <a:latin typeface="Arial Nova" panose="020B0504020202020204" pitchFamily="34" charset="0"/>
                        </a:rPr>
                        <a:t>Situation: WFH rate increases 5 times from 2011 to 2021 (6.4% to 32%)</a:t>
                      </a:r>
                    </a:p>
                    <a:p>
                      <a:pPr marL="171450" indent="-171450">
                        <a:buFont typeface="Arial" panose="020B0604020202020204" pitchFamily="34" charset="0"/>
                        <a:buChar char="•"/>
                      </a:pPr>
                      <a:r>
                        <a:rPr lang="en-GB" sz="1200" b="0" i="0" dirty="0">
                          <a:latin typeface="Arial Nova" panose="020B0504020202020204" pitchFamily="34" charset="0"/>
                        </a:rPr>
                        <a:t>Challenge: Current transport timetable and service schedules no longer align with these demand patterns</a:t>
                      </a:r>
                    </a:p>
                    <a:p>
                      <a:pPr marL="171450" indent="-171450">
                        <a:buFont typeface="Arial" panose="020B0604020202020204" pitchFamily="34" charset="0"/>
                        <a:buChar char="•"/>
                      </a:pPr>
                      <a:r>
                        <a:rPr lang="en-GB" sz="1200" b="0" i="0" dirty="0">
                          <a:latin typeface="Arial Nova" panose="020B0504020202020204" pitchFamily="34" charset="0"/>
                        </a:rPr>
                        <a:t>Goal: Optimize scheduling to meet current and anticipated demand based on data-driven insights.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dirty="0">
                          <a:latin typeface="Arial Nova" panose="020B0504020202020204" pitchFamily="34" charset="0"/>
                        </a:rPr>
                        <a:t>Analysis of publicly available ABS data across two time periods focusing on Location of Work vs. Residence and Mode of Transport.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pPr marL="171450" indent="-171450">
                        <a:buFont typeface="Arial" panose="020B0604020202020204" pitchFamily="34" charset="0"/>
                        <a:buChar char="•"/>
                      </a:pPr>
                      <a:r>
                        <a:rPr lang="en-GB" sz="1200" b="0" i="0" dirty="0">
                          <a:latin typeface="Arial Nova" panose="020B0504020202020204" pitchFamily="34" charset="0"/>
                        </a:rPr>
                        <a:t>Usage Trends: High-level shifts by transport type.</a:t>
                      </a:r>
                    </a:p>
                    <a:p>
                      <a:pPr marL="171450" indent="-171450">
                        <a:buFont typeface="Arial" panose="020B0604020202020204" pitchFamily="34" charset="0"/>
                        <a:buChar char="•"/>
                      </a:pPr>
                      <a:r>
                        <a:rPr lang="en-GB" sz="1200" b="0" i="0" dirty="0">
                          <a:latin typeface="Arial Nova" panose="020B0504020202020204" pitchFamily="34" charset="0"/>
                        </a:rPr>
                        <a:t>WFH Impact: How remote work is reshaping the peak hour and transport planning.</a:t>
                      </a:r>
                    </a:p>
                    <a:p>
                      <a:pPr marL="171450" indent="-171450">
                        <a:buFont typeface="Arial" panose="020B0604020202020204" pitchFamily="34" charset="0"/>
                        <a:buChar char="•"/>
                      </a:pPr>
                      <a:r>
                        <a:rPr lang="en-GB" sz="1200" b="0" i="0" dirty="0">
                          <a:latin typeface="Arial Nova" panose="020B0504020202020204" pitchFamily="34" charset="0"/>
                        </a:rPr>
                        <a:t>New Routes: Evidence-based locations for new CBD-bound bus routes.</a:t>
                      </a:r>
                    </a:p>
                    <a:p>
                      <a:pPr marL="171450" indent="-171450">
                        <a:buFont typeface="Arial" panose="020B0604020202020204" pitchFamily="34" charset="0"/>
                        <a:buChar char="•"/>
                      </a:pPr>
                      <a:r>
                        <a:rPr lang="en-GB" sz="1200" b="0" i="0" dirty="0">
                          <a:latin typeface="Arial Nova" panose="020B0504020202020204" pitchFamily="34" charset="0"/>
                        </a:rPr>
                        <a:t>The CommBank </a:t>
                      </a:r>
                      <a:r>
                        <a:rPr lang="en-GB" sz="1200" b="0" i="0" dirty="0" err="1">
                          <a:latin typeface="Arial Nova" panose="020B0504020202020204" pitchFamily="34" charset="0"/>
                        </a:rPr>
                        <a:t>iQ</a:t>
                      </a:r>
                      <a:r>
                        <a:rPr lang="en-GB" sz="1200" b="0" i="0" dirty="0">
                          <a:latin typeface="Arial Nova" panose="020B0504020202020204" pitchFamily="34" charset="0"/>
                        </a:rPr>
                        <a:t> Edge: How banking transactional data can transform these insights from "demographic snapshots" into "real-time </a:t>
                      </a:r>
                      <a:r>
                        <a:rPr lang="en-GB" sz="1200" b="0" i="0" dirty="0" err="1">
                          <a:latin typeface="Arial Nova" panose="020B0504020202020204" pitchFamily="34" charset="0"/>
                        </a:rPr>
                        <a:t>behavioral</a:t>
                      </a:r>
                      <a:r>
                        <a:rPr lang="en-GB" sz="1200" b="0" i="0" dirty="0">
                          <a:latin typeface="Arial Nova" panose="020B0504020202020204" pitchFamily="34" charset="0"/>
                        </a:rPr>
                        <a:t> intelligence".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721114049"/>
                  </a:ext>
                </a:extLst>
              </a:tr>
            </a:tbl>
          </a:graphicData>
        </a:graphic>
      </p:graphicFrame>
    </p:spTree>
    <p:extLst>
      <p:ext uri="{BB962C8B-B14F-4D97-AF65-F5344CB8AC3E}">
        <p14:creationId xmlns:p14="http://schemas.microsoft.com/office/powerpoint/2010/main" val="3557672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257EA-9347-6C7E-F355-DF87610F6F7D}"/>
            </a:ext>
          </a:extLst>
        </p:cNvPr>
        <p:cNvGrpSpPr/>
        <p:nvPr/>
      </p:nvGrpSpPr>
      <p:grpSpPr>
        <a:xfrm>
          <a:off x="0" y="0"/>
          <a:ext cx="0" cy="0"/>
          <a:chOff x="0" y="0"/>
          <a:chExt cx="0" cy="0"/>
        </a:xfrm>
      </p:grpSpPr>
      <p:sp>
        <p:nvSpPr>
          <p:cNvPr id="2054" name="Rectangle 6">
            <a:extLst>
              <a:ext uri="{FF2B5EF4-FFF2-40B4-BE49-F238E27FC236}">
                <a16:creationId xmlns:a16="http://schemas.microsoft.com/office/drawing/2014/main" id="{1402E478-6446-803F-C456-E7AF003CACEB}"/>
              </a:ext>
            </a:extLst>
          </p:cNvPr>
          <p:cNvSpPr>
            <a:spLocks noChangeArrowheads="1"/>
          </p:cNvSpPr>
          <p:nvPr/>
        </p:nvSpPr>
        <p:spPr bwMode="auto">
          <a:xfrm>
            <a:off x="0" y="5867400"/>
            <a:ext cx="2667000" cy="9906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aphicFrame>
        <p:nvGraphicFramePr>
          <p:cNvPr id="2055" name="Object 7">
            <a:extLst>
              <a:ext uri="{FF2B5EF4-FFF2-40B4-BE49-F238E27FC236}">
                <a16:creationId xmlns:a16="http://schemas.microsoft.com/office/drawing/2014/main" id="{52E9BB78-24EA-920D-A7FA-4FE211C65713}"/>
              </a:ext>
            </a:extLst>
          </p:cNvPr>
          <p:cNvGraphicFramePr>
            <a:graphicFrameLocks noChangeAspect="1"/>
          </p:cNvGraphicFramePr>
          <p:nvPr/>
        </p:nvGraphicFramePr>
        <p:xfrm>
          <a:off x="7380312" y="6352340"/>
          <a:ext cx="1763688" cy="505660"/>
        </p:xfrm>
        <a:graphic>
          <a:graphicData uri="http://schemas.openxmlformats.org/presentationml/2006/ole">
            <mc:AlternateContent xmlns:mc="http://schemas.openxmlformats.org/markup-compatibility/2006">
              <mc:Choice xmlns:v="urn:schemas-microsoft-com:vml" Requires="v">
                <p:oleObj name="Image" r:id="rId3" imgW="13106400" imgH="3752850" progId="Photoshop.Image.6">
                  <p:embed/>
                </p:oleObj>
              </mc:Choice>
              <mc:Fallback>
                <p:oleObj name="Image" r:id="rId3" imgW="13106400" imgH="3752850" progId="Photoshop.Image.6">
                  <p:embed/>
                  <p:pic>
                    <p:nvPicPr>
                      <p:cNvPr id="2055" name="Object 7">
                        <a:extLst>
                          <a:ext uri="{FF2B5EF4-FFF2-40B4-BE49-F238E27FC236}">
                            <a16:creationId xmlns:a16="http://schemas.microsoft.com/office/drawing/2014/main" id="{89014C32-3647-3869-4CEB-9F6C1B3C8D6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0312" y="6352340"/>
                        <a:ext cx="1763688" cy="505660"/>
                      </a:xfrm>
                      <a:prstGeom prst="rect">
                        <a:avLst/>
                      </a:prstGeom>
                      <a:noFill/>
                      <a:ln>
                        <a:noFill/>
                      </a:ln>
                      <a:effectLst/>
                    </p:spPr>
                  </p:pic>
                </p:oleObj>
              </mc:Fallback>
            </mc:AlternateContent>
          </a:graphicData>
        </a:graphic>
      </p:graphicFrame>
      <p:pic>
        <p:nvPicPr>
          <p:cNvPr id="5" name="Picture 4">
            <a:extLst>
              <a:ext uri="{FF2B5EF4-FFF2-40B4-BE49-F238E27FC236}">
                <a16:creationId xmlns:a16="http://schemas.microsoft.com/office/drawing/2014/main" id="{1D1BB3B5-CC88-1943-5754-B6CCC95CE3C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6522" y="455476"/>
            <a:ext cx="2565994" cy="216024"/>
          </a:xfrm>
          <a:prstGeom prst="rect">
            <a:avLst/>
          </a:prstGeom>
        </p:spPr>
      </p:pic>
      <p:sp>
        <p:nvSpPr>
          <p:cNvPr id="7" name="Rectangle 6">
            <a:extLst>
              <a:ext uri="{FF2B5EF4-FFF2-40B4-BE49-F238E27FC236}">
                <a16:creationId xmlns:a16="http://schemas.microsoft.com/office/drawing/2014/main" id="{6A20872D-DD72-43D9-6199-297398B5F9A5}"/>
              </a:ext>
            </a:extLst>
          </p:cNvPr>
          <p:cNvSpPr/>
          <p:nvPr/>
        </p:nvSpPr>
        <p:spPr>
          <a:xfrm>
            <a:off x="0" y="836712"/>
            <a:ext cx="9144000" cy="144016"/>
          </a:xfrm>
          <a:prstGeom prst="rect">
            <a:avLst/>
          </a:prstGeom>
          <a:solidFill>
            <a:srgbClr val="FFCB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237CBA6-A2B1-50E9-A38C-16839860F94E}"/>
              </a:ext>
            </a:extLst>
          </p:cNvPr>
          <p:cNvSpPr txBox="1"/>
          <p:nvPr/>
        </p:nvSpPr>
        <p:spPr>
          <a:xfrm>
            <a:off x="179512" y="332656"/>
            <a:ext cx="6984776" cy="369332"/>
          </a:xfrm>
          <a:prstGeom prst="rect">
            <a:avLst/>
          </a:prstGeom>
          <a:noFill/>
        </p:spPr>
        <p:txBody>
          <a:bodyPr wrap="square" rtlCol="0">
            <a:spAutoFit/>
          </a:bodyPr>
          <a:lstStyle/>
          <a:p>
            <a:r>
              <a:rPr lang="en-GB" sz="1800" b="1" dirty="0">
                <a:latin typeface="Arial Nova Cond" panose="020B0504020202020204" pitchFamily="34" charset="0"/>
                <a:ea typeface="Apple Symbols" panose="02000000000000000000" pitchFamily="2" charset="-79"/>
                <a:cs typeface="Arial Nova" panose="020F0502020204030204" pitchFamily="34" charset="0"/>
              </a:rPr>
              <a:t>What are the overall usage trends by transport type?</a:t>
            </a:r>
            <a:endParaRPr lang="en-US" sz="1800" b="1" dirty="0">
              <a:latin typeface="Arial Nova Cond" panose="020B0504020202020204" pitchFamily="34" charset="0"/>
              <a:ea typeface="Apple Symbols" panose="02000000000000000000" pitchFamily="2" charset="-79"/>
              <a:cs typeface="Arial Nova" panose="020F0502020204030204" pitchFamily="34" charset="0"/>
            </a:endParaRPr>
          </a:p>
        </p:txBody>
      </p:sp>
      <p:sp>
        <p:nvSpPr>
          <p:cNvPr id="11" name="Rectangle 10">
            <a:extLst>
              <a:ext uri="{FF2B5EF4-FFF2-40B4-BE49-F238E27FC236}">
                <a16:creationId xmlns:a16="http://schemas.microsoft.com/office/drawing/2014/main" id="{84C06138-517B-BA7E-FE2F-15A3FB6B7CF7}"/>
              </a:ext>
            </a:extLst>
          </p:cNvPr>
          <p:cNvSpPr/>
          <p:nvPr/>
        </p:nvSpPr>
        <p:spPr>
          <a:xfrm>
            <a:off x="146557" y="5003250"/>
            <a:ext cx="8793004" cy="1200329"/>
          </a:xfrm>
          <a:prstGeom prst="rect">
            <a:avLst/>
          </a:prstGeom>
          <a:solidFill>
            <a:srgbClr val="FFCB0A">
              <a:alpha val="35294"/>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D51FCBE7-76CD-97C1-097E-AEF78810DAD9}"/>
              </a:ext>
            </a:extLst>
          </p:cNvPr>
          <p:cNvSpPr txBox="1"/>
          <p:nvPr/>
        </p:nvSpPr>
        <p:spPr>
          <a:xfrm>
            <a:off x="146557" y="5003250"/>
            <a:ext cx="8793003" cy="1200329"/>
          </a:xfrm>
          <a:prstGeom prst="rect">
            <a:avLst/>
          </a:prstGeom>
          <a:noFill/>
        </p:spPr>
        <p:txBody>
          <a:bodyPr wrap="square" rtlCol="0">
            <a:spAutoFit/>
          </a:bodyPr>
          <a:lstStyle/>
          <a:p>
            <a:pPr marL="171450" indent="-171450">
              <a:buFont typeface="Arial" panose="020B0604020202020204" pitchFamily="34" charset="0"/>
              <a:buChar char="•"/>
            </a:pPr>
            <a:r>
              <a:rPr lang="en-GB" sz="1200" b="1" dirty="0">
                <a:latin typeface="Arial Nova" panose="020B0504020202020204" pitchFamily="34" charset="0"/>
              </a:rPr>
              <a:t>Private transport</a:t>
            </a:r>
            <a:r>
              <a:rPr lang="en-GB" sz="1200" dirty="0">
                <a:latin typeface="Arial Nova" panose="020B0504020202020204" pitchFamily="34" charset="0"/>
              </a:rPr>
              <a:t> is </a:t>
            </a:r>
            <a:r>
              <a:rPr lang="en-GB" sz="1200" b="1" dirty="0">
                <a:latin typeface="Arial Nova" panose="020B0504020202020204" pitchFamily="34" charset="0"/>
              </a:rPr>
              <a:t>dominant</a:t>
            </a:r>
            <a:r>
              <a:rPr lang="en-GB" sz="1200" dirty="0">
                <a:latin typeface="Arial Nova" panose="020B0504020202020204" pitchFamily="34" charset="0"/>
              </a:rPr>
              <a:t> </a:t>
            </a:r>
            <a:r>
              <a:rPr lang="en-GB" sz="1200" b="1" dirty="0">
                <a:latin typeface="Arial Nova" panose="020B0504020202020204" pitchFamily="34" charset="0"/>
              </a:rPr>
              <a:t>but declined sharply (</a:t>
            </a:r>
            <a:r>
              <a:rPr lang="en-GB" sz="1200" dirty="0">
                <a:latin typeface="Arial Nova" panose="020B0504020202020204" pitchFamily="34" charset="0"/>
              </a:rPr>
              <a:t>-28% from 2011 to 2021) (Fig.1)</a:t>
            </a:r>
          </a:p>
          <a:p>
            <a:pPr marL="171450" indent="-171450">
              <a:buFont typeface="Arial" panose="020B0604020202020204" pitchFamily="34" charset="0"/>
              <a:buChar char="•"/>
            </a:pPr>
            <a:r>
              <a:rPr lang="en-GB" sz="1200" b="1" dirty="0">
                <a:latin typeface="Arial Nova" panose="020B0504020202020204" pitchFamily="34" charset="0"/>
              </a:rPr>
              <a:t>WFH</a:t>
            </a:r>
            <a:r>
              <a:rPr lang="en-GB" sz="1200" dirty="0">
                <a:latin typeface="Arial Nova" panose="020B0504020202020204" pitchFamily="34" charset="0"/>
              </a:rPr>
              <a:t> </a:t>
            </a:r>
            <a:r>
              <a:rPr lang="en-GB" sz="1200" b="1" dirty="0">
                <a:latin typeface="Arial Nova" panose="020B0504020202020204" pitchFamily="34" charset="0"/>
              </a:rPr>
              <a:t>increased dramatically</a:t>
            </a:r>
            <a:r>
              <a:rPr lang="en-GB" sz="1200" dirty="0">
                <a:latin typeface="Arial Nova" panose="020B0504020202020204" pitchFamily="34" charset="0"/>
              </a:rPr>
              <a:t>, +30% (2016-2021), ~36% of workers (Fig.1)</a:t>
            </a:r>
          </a:p>
          <a:p>
            <a:pPr marL="171450" indent="-171450">
              <a:buFont typeface="Arial" panose="020B0604020202020204" pitchFamily="34" charset="0"/>
              <a:buChar char="•"/>
            </a:pPr>
            <a:r>
              <a:rPr lang="en-GB" sz="1200" dirty="0">
                <a:latin typeface="Arial Nova" panose="020B0504020202020204" pitchFamily="34" charset="0"/>
              </a:rPr>
              <a:t>Among </a:t>
            </a:r>
            <a:r>
              <a:rPr lang="en-GB" sz="1200" b="1" dirty="0">
                <a:latin typeface="Arial Nova" panose="020B0504020202020204" pitchFamily="34" charset="0"/>
              </a:rPr>
              <a:t>physical commuters </a:t>
            </a:r>
            <a:r>
              <a:rPr lang="en-GB" sz="1200" dirty="0">
                <a:latin typeface="Arial Nova" panose="020B0504020202020204" pitchFamily="34" charset="0"/>
              </a:rPr>
              <a:t>(</a:t>
            </a:r>
            <a:r>
              <a:rPr lang="en-GB" sz="1200" dirty="0" err="1">
                <a:latin typeface="Arial Nova" panose="020B0504020202020204" pitchFamily="34" charset="0"/>
              </a:rPr>
              <a:t>excld</a:t>
            </a:r>
            <a:r>
              <a:rPr lang="en-GB" sz="1200" dirty="0">
                <a:latin typeface="Arial Nova" panose="020B0504020202020204" pitchFamily="34" charset="0"/>
              </a:rPr>
              <a:t> WFH), the </a:t>
            </a:r>
            <a:r>
              <a:rPr lang="en-GB" sz="1200" b="1" dirty="0">
                <a:latin typeface="Arial Nova" panose="020B0504020202020204" pitchFamily="34" charset="0"/>
              </a:rPr>
              <a:t>Private Vehicle </a:t>
            </a:r>
            <a:r>
              <a:rPr lang="en-GB" sz="1200" dirty="0">
                <a:latin typeface="Arial Nova" panose="020B0504020202020204" pitchFamily="34" charset="0"/>
              </a:rPr>
              <a:t>is </a:t>
            </a:r>
            <a:r>
              <a:rPr lang="en-GB" sz="1200" b="1" dirty="0">
                <a:latin typeface="Arial Nova" panose="020B0504020202020204" pitchFamily="34" charset="0"/>
              </a:rPr>
              <a:t>86.8%</a:t>
            </a:r>
            <a:r>
              <a:rPr lang="en-GB" sz="1200" dirty="0">
                <a:latin typeface="Arial Nova" panose="020B0504020202020204" pitchFamily="34" charset="0"/>
              </a:rPr>
              <a:t> in 2021 (from 75.4% in 2016)</a:t>
            </a:r>
          </a:p>
          <a:p>
            <a:pPr marL="171450" indent="-171450">
              <a:buFont typeface="Arial" panose="020B0604020202020204" pitchFamily="34" charset="0"/>
              <a:buChar char="•"/>
            </a:pPr>
            <a:r>
              <a:rPr lang="en-GB" sz="1200" dirty="0">
                <a:latin typeface="Arial Nova" panose="020B0504020202020204" pitchFamily="34" charset="0"/>
              </a:rPr>
              <a:t>In 2021, </a:t>
            </a:r>
            <a:r>
              <a:rPr lang="en-GB" sz="1200" b="1" dirty="0">
                <a:latin typeface="Arial Nova" panose="020B0504020202020204" pitchFamily="34" charset="0"/>
              </a:rPr>
              <a:t>WFH</a:t>
            </a:r>
            <a:r>
              <a:rPr lang="en-GB" sz="1200" dirty="0">
                <a:latin typeface="Arial Nova" panose="020B0504020202020204" pitchFamily="34" charset="0"/>
              </a:rPr>
              <a:t> (39.1%) and </a:t>
            </a:r>
            <a:r>
              <a:rPr lang="en-GB" sz="1200" b="1" dirty="0">
                <a:latin typeface="Arial Nova" panose="020B0504020202020204" pitchFamily="34" charset="0"/>
              </a:rPr>
              <a:t>Private Vehicle </a:t>
            </a:r>
            <a:r>
              <a:rPr lang="en-GB" sz="1200" dirty="0">
                <a:latin typeface="Arial Nova" panose="020B0504020202020204" pitchFamily="34" charset="0"/>
              </a:rPr>
              <a:t>(38.5%) were </a:t>
            </a:r>
            <a:r>
              <a:rPr lang="en-GB" sz="1200" b="1" dirty="0">
                <a:latin typeface="Arial Nova" panose="020B0504020202020204" pitchFamily="34" charset="0"/>
              </a:rPr>
              <a:t>nearly equal </a:t>
            </a:r>
            <a:r>
              <a:rPr lang="en-GB" sz="1200" dirty="0">
                <a:latin typeface="Arial Nova" panose="020B0504020202020204" pitchFamily="34" charset="0"/>
              </a:rPr>
              <a:t>in </a:t>
            </a:r>
            <a:r>
              <a:rPr lang="en-GB" sz="1200" b="1" dirty="0">
                <a:latin typeface="Arial Nova" panose="020B0504020202020204" pitchFamily="34" charset="0"/>
              </a:rPr>
              <a:t>Greater Sydney </a:t>
            </a:r>
            <a:r>
              <a:rPr lang="en-GB" sz="1200" dirty="0">
                <a:latin typeface="Arial Nova" panose="020B0504020202020204" pitchFamily="34" charset="0"/>
              </a:rPr>
              <a:t>while in </a:t>
            </a:r>
            <a:r>
              <a:rPr lang="en-GB" sz="1200" b="1" dirty="0">
                <a:latin typeface="Arial Nova" panose="020B0504020202020204" pitchFamily="34" charset="0"/>
              </a:rPr>
              <a:t>Regional NSW</a:t>
            </a:r>
            <a:r>
              <a:rPr lang="en-GB" sz="1200" dirty="0">
                <a:latin typeface="Arial Nova" panose="020B0504020202020204" pitchFamily="34" charset="0"/>
              </a:rPr>
              <a:t>, </a:t>
            </a:r>
            <a:r>
              <a:rPr lang="en-GB" sz="1200" b="1" dirty="0">
                <a:latin typeface="Arial Nova" panose="020B0504020202020204" pitchFamily="34" charset="0"/>
              </a:rPr>
              <a:t>WFH</a:t>
            </a:r>
            <a:r>
              <a:rPr lang="en-GB" sz="1200" dirty="0">
                <a:latin typeface="Arial Nova" panose="020B0504020202020204" pitchFamily="34" charset="0"/>
              </a:rPr>
              <a:t> was </a:t>
            </a:r>
            <a:r>
              <a:rPr lang="en-GB" sz="1200" b="1" dirty="0">
                <a:latin typeface="Arial Nova" panose="020B0504020202020204" pitchFamily="34" charset="0"/>
              </a:rPr>
              <a:t>only 15.8%, Private Vehicles </a:t>
            </a:r>
            <a:r>
              <a:rPr lang="en-GB" sz="1200" dirty="0">
                <a:latin typeface="Arial Nova" panose="020B0504020202020204" pitchFamily="34" charset="0"/>
              </a:rPr>
              <a:t>accounted for </a:t>
            </a:r>
            <a:r>
              <a:rPr lang="en-GB" sz="1200" b="1" dirty="0">
                <a:latin typeface="Arial Nova" panose="020B0504020202020204" pitchFamily="34" charset="0"/>
              </a:rPr>
              <a:t>67%</a:t>
            </a:r>
            <a:r>
              <a:rPr lang="en-GB" sz="1200" dirty="0">
                <a:latin typeface="Arial Nova" panose="020B0504020202020204" pitchFamily="34" charset="0"/>
              </a:rPr>
              <a:t> (Fig.2)</a:t>
            </a:r>
          </a:p>
          <a:p>
            <a:pPr marL="171450" indent="-171450">
              <a:buFont typeface="Arial" panose="020B0604020202020204" pitchFamily="34" charset="0"/>
              <a:buChar char="•"/>
            </a:pPr>
            <a:r>
              <a:rPr lang="en-GB" sz="1200" dirty="0">
                <a:latin typeface="Arial Nova" panose="020B0504020202020204" pitchFamily="34" charset="0"/>
              </a:rPr>
              <a:t>Centre: all day services, connecting hubs to CBD, regional: hub to hub express service</a:t>
            </a:r>
          </a:p>
        </p:txBody>
      </p:sp>
      <p:sp>
        <p:nvSpPr>
          <p:cNvPr id="13" name="TextBox 12">
            <a:extLst>
              <a:ext uri="{FF2B5EF4-FFF2-40B4-BE49-F238E27FC236}">
                <a16:creationId xmlns:a16="http://schemas.microsoft.com/office/drawing/2014/main" id="{E3C18C60-EF6B-56F7-CB55-2D1C01376B08}"/>
              </a:ext>
            </a:extLst>
          </p:cNvPr>
          <p:cNvSpPr txBox="1"/>
          <p:nvPr/>
        </p:nvSpPr>
        <p:spPr>
          <a:xfrm>
            <a:off x="755575" y="1146723"/>
            <a:ext cx="7776865" cy="738664"/>
          </a:xfrm>
          <a:prstGeom prst="rect">
            <a:avLst/>
          </a:prstGeom>
          <a:noFill/>
        </p:spPr>
        <p:txBody>
          <a:bodyPr wrap="square" rtlCol="0">
            <a:spAutoFit/>
          </a:bodyPr>
          <a:lstStyle/>
          <a:p>
            <a:pPr algn="ctr"/>
            <a:r>
              <a:rPr lang="en-GB" sz="1400" dirty="0">
                <a:latin typeface="Arial Nova Cond" panose="020B0504020202020204" pitchFamily="34" charset="0"/>
              </a:rPr>
              <a:t>WFH growth has reduced total commuting demand, weakening traditional weekday peak patterns rather than redistributing trips across modes.</a:t>
            </a:r>
          </a:p>
          <a:p>
            <a:pPr algn="ctr"/>
            <a:endParaRPr lang="en-US" sz="1400" dirty="0">
              <a:latin typeface="Arial Nova Cond" panose="020B0504020202020204" pitchFamily="34" charset="0"/>
            </a:endParaRPr>
          </a:p>
        </p:txBody>
      </p:sp>
      <p:pic>
        <p:nvPicPr>
          <p:cNvPr id="15" name="Graphic 14">
            <a:extLst>
              <a:ext uri="{FF2B5EF4-FFF2-40B4-BE49-F238E27FC236}">
                <a16:creationId xmlns:a16="http://schemas.microsoft.com/office/drawing/2014/main" id="{DD87664F-EAF3-C31D-29F4-055A69CAE4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362" y="6469033"/>
            <a:ext cx="1069132" cy="280453"/>
          </a:xfrm>
          <a:prstGeom prst="rect">
            <a:avLst/>
          </a:prstGeom>
        </p:spPr>
      </p:pic>
      <p:pic>
        <p:nvPicPr>
          <p:cNvPr id="6" name="Picture 5" descr="A graph of a travel to work mode share&#10;&#10;AI-generated content may be incorrect.">
            <a:extLst>
              <a:ext uri="{FF2B5EF4-FFF2-40B4-BE49-F238E27FC236}">
                <a16:creationId xmlns:a16="http://schemas.microsoft.com/office/drawing/2014/main" id="{EEF1A4C8-8A86-78B1-783B-3E056EA8F6B4}"/>
              </a:ext>
            </a:extLst>
          </p:cNvPr>
          <p:cNvPicPr>
            <a:picLocks noChangeAspect="1"/>
          </p:cNvPicPr>
          <p:nvPr/>
        </p:nvPicPr>
        <p:blipFill>
          <a:blip r:embed="rId8"/>
          <a:stretch>
            <a:fillRect/>
          </a:stretch>
        </p:blipFill>
        <p:spPr>
          <a:xfrm>
            <a:off x="273081" y="1988665"/>
            <a:ext cx="4086295" cy="2485647"/>
          </a:xfrm>
          <a:prstGeom prst="rect">
            <a:avLst/>
          </a:prstGeom>
        </p:spPr>
      </p:pic>
      <p:pic>
        <p:nvPicPr>
          <p:cNvPr id="10" name="Picture 9" descr="A close-up of a graph&#10;&#10;AI-generated content may be incorrect.">
            <a:extLst>
              <a:ext uri="{FF2B5EF4-FFF2-40B4-BE49-F238E27FC236}">
                <a16:creationId xmlns:a16="http://schemas.microsoft.com/office/drawing/2014/main" id="{59544254-1B7B-D87B-8970-C29EBB9707A8}"/>
              </a:ext>
            </a:extLst>
          </p:cNvPr>
          <p:cNvPicPr>
            <a:picLocks noChangeAspect="1"/>
          </p:cNvPicPr>
          <p:nvPr/>
        </p:nvPicPr>
        <p:blipFill>
          <a:blip r:embed="rId9"/>
          <a:stretch>
            <a:fillRect/>
          </a:stretch>
        </p:blipFill>
        <p:spPr>
          <a:xfrm>
            <a:off x="4605683" y="2021505"/>
            <a:ext cx="4381641" cy="2453291"/>
          </a:xfrm>
          <a:prstGeom prst="rect">
            <a:avLst/>
          </a:prstGeom>
        </p:spPr>
      </p:pic>
    </p:spTree>
    <p:extLst>
      <p:ext uri="{BB962C8B-B14F-4D97-AF65-F5344CB8AC3E}">
        <p14:creationId xmlns:p14="http://schemas.microsoft.com/office/powerpoint/2010/main" val="42727821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DA6A3-A88C-DFED-5517-346512A16A1D}"/>
            </a:ext>
          </a:extLst>
        </p:cNvPr>
        <p:cNvGrpSpPr/>
        <p:nvPr/>
      </p:nvGrpSpPr>
      <p:grpSpPr>
        <a:xfrm>
          <a:off x="0" y="0"/>
          <a:ext cx="0" cy="0"/>
          <a:chOff x="0" y="0"/>
          <a:chExt cx="0" cy="0"/>
        </a:xfrm>
      </p:grpSpPr>
      <p:sp>
        <p:nvSpPr>
          <p:cNvPr id="2054" name="Rectangle 6">
            <a:extLst>
              <a:ext uri="{FF2B5EF4-FFF2-40B4-BE49-F238E27FC236}">
                <a16:creationId xmlns:a16="http://schemas.microsoft.com/office/drawing/2014/main" id="{23DFD002-AC17-B9EC-A30B-BC8984186080}"/>
              </a:ext>
            </a:extLst>
          </p:cNvPr>
          <p:cNvSpPr>
            <a:spLocks noChangeArrowheads="1"/>
          </p:cNvSpPr>
          <p:nvPr/>
        </p:nvSpPr>
        <p:spPr bwMode="auto">
          <a:xfrm>
            <a:off x="0" y="5867400"/>
            <a:ext cx="2667000" cy="9906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aphicFrame>
        <p:nvGraphicFramePr>
          <p:cNvPr id="2055" name="Object 7">
            <a:extLst>
              <a:ext uri="{FF2B5EF4-FFF2-40B4-BE49-F238E27FC236}">
                <a16:creationId xmlns:a16="http://schemas.microsoft.com/office/drawing/2014/main" id="{57378008-ADC0-FB74-D3F7-9951433AFE4A}"/>
              </a:ext>
            </a:extLst>
          </p:cNvPr>
          <p:cNvGraphicFramePr>
            <a:graphicFrameLocks noChangeAspect="1"/>
          </p:cNvGraphicFramePr>
          <p:nvPr/>
        </p:nvGraphicFramePr>
        <p:xfrm>
          <a:off x="7380312" y="6352340"/>
          <a:ext cx="1763688" cy="505660"/>
        </p:xfrm>
        <a:graphic>
          <a:graphicData uri="http://schemas.openxmlformats.org/presentationml/2006/ole">
            <mc:AlternateContent xmlns:mc="http://schemas.openxmlformats.org/markup-compatibility/2006">
              <mc:Choice xmlns:v="urn:schemas-microsoft-com:vml" Requires="v">
                <p:oleObj name="Image" r:id="rId3" imgW="13106400" imgH="3752850" progId="Photoshop.Image.6">
                  <p:embed/>
                </p:oleObj>
              </mc:Choice>
              <mc:Fallback>
                <p:oleObj name="Image" r:id="rId3" imgW="13106400" imgH="3752850" progId="Photoshop.Image.6">
                  <p:embed/>
                  <p:pic>
                    <p:nvPicPr>
                      <p:cNvPr id="2055" name="Object 7">
                        <a:extLst>
                          <a:ext uri="{FF2B5EF4-FFF2-40B4-BE49-F238E27FC236}">
                            <a16:creationId xmlns:a16="http://schemas.microsoft.com/office/drawing/2014/main" id="{F3AB80E8-7A74-BF78-97E0-AA39CE5A5D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0312" y="6352340"/>
                        <a:ext cx="1763688" cy="505660"/>
                      </a:xfrm>
                      <a:prstGeom prst="rect">
                        <a:avLst/>
                      </a:prstGeom>
                      <a:noFill/>
                      <a:ln>
                        <a:noFill/>
                      </a:ln>
                      <a:effectLst/>
                    </p:spPr>
                  </p:pic>
                </p:oleObj>
              </mc:Fallback>
            </mc:AlternateContent>
          </a:graphicData>
        </a:graphic>
      </p:graphicFrame>
      <p:pic>
        <p:nvPicPr>
          <p:cNvPr id="5" name="Picture 4">
            <a:extLst>
              <a:ext uri="{FF2B5EF4-FFF2-40B4-BE49-F238E27FC236}">
                <a16:creationId xmlns:a16="http://schemas.microsoft.com/office/drawing/2014/main" id="{2155AFF9-1656-71CF-6028-FC9F98FC18A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6522" y="455476"/>
            <a:ext cx="2565994" cy="216024"/>
          </a:xfrm>
          <a:prstGeom prst="rect">
            <a:avLst/>
          </a:prstGeom>
        </p:spPr>
      </p:pic>
      <p:sp>
        <p:nvSpPr>
          <p:cNvPr id="7" name="Rectangle 6">
            <a:extLst>
              <a:ext uri="{FF2B5EF4-FFF2-40B4-BE49-F238E27FC236}">
                <a16:creationId xmlns:a16="http://schemas.microsoft.com/office/drawing/2014/main" id="{D0BD2685-B170-E8A1-02E0-023EE9CED3D4}"/>
              </a:ext>
            </a:extLst>
          </p:cNvPr>
          <p:cNvSpPr/>
          <p:nvPr/>
        </p:nvSpPr>
        <p:spPr>
          <a:xfrm>
            <a:off x="0" y="836712"/>
            <a:ext cx="9144000" cy="144016"/>
          </a:xfrm>
          <a:prstGeom prst="rect">
            <a:avLst/>
          </a:prstGeom>
          <a:solidFill>
            <a:srgbClr val="FFCB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E970606-FEE4-D206-FA9C-35EBA09B62D2}"/>
              </a:ext>
            </a:extLst>
          </p:cNvPr>
          <p:cNvSpPr txBox="1"/>
          <p:nvPr/>
        </p:nvSpPr>
        <p:spPr>
          <a:xfrm>
            <a:off x="161786" y="315234"/>
            <a:ext cx="6984776" cy="369332"/>
          </a:xfrm>
          <a:prstGeom prst="rect">
            <a:avLst/>
          </a:prstGeom>
          <a:noFill/>
        </p:spPr>
        <p:txBody>
          <a:bodyPr wrap="square" rtlCol="0">
            <a:spAutoFit/>
          </a:bodyPr>
          <a:lstStyle/>
          <a:p>
            <a:r>
              <a:rPr lang="en-GB" sz="1800" b="1" dirty="0">
                <a:latin typeface="Arial Nova Cond" panose="020B0504020202020204" pitchFamily="34" charset="0"/>
                <a:ea typeface="Apple Symbols" panose="02000000000000000000" pitchFamily="2" charset="-79"/>
              </a:rPr>
              <a:t>How has WFH changed and what does this mean for planning?</a:t>
            </a:r>
            <a:endParaRPr lang="en-US" sz="1800" b="1" dirty="0">
              <a:latin typeface="Arial Nova Cond" panose="020B0504020202020204" pitchFamily="34" charset="0"/>
              <a:ea typeface="Apple Symbols" panose="02000000000000000000" pitchFamily="2" charset="-79"/>
            </a:endParaRPr>
          </a:p>
        </p:txBody>
      </p:sp>
      <p:sp>
        <p:nvSpPr>
          <p:cNvPr id="11" name="Rectangle 10">
            <a:extLst>
              <a:ext uri="{FF2B5EF4-FFF2-40B4-BE49-F238E27FC236}">
                <a16:creationId xmlns:a16="http://schemas.microsoft.com/office/drawing/2014/main" id="{A2904075-2FD9-1798-190A-EEBEF7BF4549}"/>
              </a:ext>
            </a:extLst>
          </p:cNvPr>
          <p:cNvSpPr/>
          <p:nvPr/>
        </p:nvSpPr>
        <p:spPr>
          <a:xfrm>
            <a:off x="179512" y="5202194"/>
            <a:ext cx="4392488" cy="1200329"/>
          </a:xfrm>
          <a:prstGeom prst="rect">
            <a:avLst/>
          </a:prstGeom>
          <a:solidFill>
            <a:srgbClr val="FFCB0A">
              <a:alpha val="35294"/>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B735F01-DCA4-E3B9-B537-BA94F30B1C5D}"/>
              </a:ext>
            </a:extLst>
          </p:cNvPr>
          <p:cNvSpPr txBox="1"/>
          <p:nvPr/>
        </p:nvSpPr>
        <p:spPr>
          <a:xfrm>
            <a:off x="179511" y="5202193"/>
            <a:ext cx="4392487" cy="1200329"/>
          </a:xfrm>
          <a:prstGeom prst="rect">
            <a:avLst/>
          </a:prstGeom>
          <a:noFill/>
        </p:spPr>
        <p:txBody>
          <a:bodyPr wrap="square" rtlCol="0">
            <a:spAutoFit/>
          </a:bodyPr>
          <a:lstStyle/>
          <a:p>
            <a:pPr algn="ctr"/>
            <a:r>
              <a:rPr lang="en-GB" sz="900" b="1" dirty="0">
                <a:latin typeface="Arial Nova" panose="020B0504020202020204" pitchFamily="34" charset="0"/>
              </a:rPr>
              <a:t>Insights</a:t>
            </a:r>
          </a:p>
          <a:p>
            <a:pPr marL="171450" indent="-171450">
              <a:buFont typeface="Arial" panose="020B0604020202020204" pitchFamily="34" charset="0"/>
              <a:buChar char="•"/>
            </a:pPr>
            <a:r>
              <a:rPr lang="en-GB" sz="900" b="1" dirty="0">
                <a:latin typeface="Arial Nova" panose="020B0504020202020204" pitchFamily="34" charset="0"/>
              </a:rPr>
              <a:t>WFH </a:t>
            </a:r>
            <a:r>
              <a:rPr lang="en-GB" sz="900" dirty="0">
                <a:latin typeface="Arial Nova" panose="020B0504020202020204" pitchFamily="34" charset="0"/>
              </a:rPr>
              <a:t>adoption </a:t>
            </a:r>
            <a:r>
              <a:rPr lang="en-GB" sz="900" b="1" dirty="0">
                <a:latin typeface="Arial Nova" panose="020B0504020202020204" pitchFamily="34" charset="0"/>
              </a:rPr>
              <a:t>increased sharply and unevenly</a:t>
            </a:r>
            <a:r>
              <a:rPr lang="en-GB" sz="900" dirty="0">
                <a:latin typeface="Arial Nova" panose="020B0504020202020204" pitchFamily="34" charset="0"/>
              </a:rPr>
              <a:t>, with median SA2 WFH rate from ~5% to ~30% (2011-2021), individual SA2s ranging from 0% to ~70% (Fig.3)</a:t>
            </a:r>
          </a:p>
          <a:p>
            <a:pPr marL="171450" indent="-171450">
              <a:buFont typeface="Arial" panose="020B0604020202020204" pitchFamily="34" charset="0"/>
              <a:buChar char="•"/>
            </a:pPr>
            <a:r>
              <a:rPr lang="en-GB" sz="900" dirty="0">
                <a:latin typeface="Arial Nova" panose="020B0504020202020204" pitchFamily="34" charset="0"/>
              </a:rPr>
              <a:t>In several </a:t>
            </a:r>
            <a:r>
              <a:rPr lang="en-GB" sz="900" b="1" dirty="0">
                <a:latin typeface="Arial Nova" panose="020B0504020202020204" pitchFamily="34" charset="0"/>
              </a:rPr>
              <a:t>high-density residential areas</a:t>
            </a:r>
            <a:r>
              <a:rPr lang="en-GB" sz="900" dirty="0">
                <a:latin typeface="Arial Nova" panose="020B0504020202020204" pitchFamily="34" charset="0"/>
              </a:rPr>
              <a:t>, over </a:t>
            </a:r>
            <a:r>
              <a:rPr lang="en-GB" sz="900" b="1" dirty="0">
                <a:latin typeface="Arial Nova" panose="020B0504020202020204" pitchFamily="34" charset="0"/>
              </a:rPr>
              <a:t>2/3 of the workforce now work from home</a:t>
            </a:r>
            <a:r>
              <a:rPr lang="en-GB" sz="900" dirty="0">
                <a:latin typeface="Arial Nova" panose="020B0504020202020204" pitchFamily="34" charset="0"/>
              </a:rPr>
              <a:t> (Balmain, </a:t>
            </a:r>
            <a:r>
              <a:rPr lang="en-GB" sz="900" dirty="0" err="1">
                <a:latin typeface="Arial Nova" panose="020B0504020202020204" pitchFamily="34" charset="0"/>
              </a:rPr>
              <a:t>Erskineville</a:t>
            </a:r>
            <a:r>
              <a:rPr lang="en-GB" sz="900" dirty="0">
                <a:latin typeface="Arial Nova" panose="020B0504020202020204" pitchFamily="34" charset="0"/>
              </a:rPr>
              <a:t> – Alexandria) (Fig.4)</a:t>
            </a:r>
          </a:p>
          <a:p>
            <a:pPr marL="171450" indent="-171450">
              <a:buFont typeface="Arial" panose="020B0604020202020204" pitchFamily="34" charset="0"/>
              <a:buChar char="•"/>
            </a:pPr>
            <a:r>
              <a:rPr lang="en-GB" sz="900" b="1" dirty="0">
                <a:latin typeface="Arial Nova" panose="020B0504020202020204" pitchFamily="34" charset="0"/>
              </a:rPr>
              <a:t>Higher WFH adoption is associated with higher CBD dependency</a:t>
            </a:r>
            <a:r>
              <a:rPr lang="en-GB" sz="900" dirty="0">
                <a:latin typeface="Arial Nova" panose="020B0504020202020204" pitchFamily="34" charset="0"/>
              </a:rPr>
              <a:t>, indicating WFH is most prevalent among CBD-based workers (Fig. 5)</a:t>
            </a:r>
          </a:p>
        </p:txBody>
      </p:sp>
      <p:sp>
        <p:nvSpPr>
          <p:cNvPr id="13" name="TextBox 12">
            <a:extLst>
              <a:ext uri="{FF2B5EF4-FFF2-40B4-BE49-F238E27FC236}">
                <a16:creationId xmlns:a16="http://schemas.microsoft.com/office/drawing/2014/main" id="{58CB82B9-E254-04E1-52C1-EB25FF07F309}"/>
              </a:ext>
            </a:extLst>
          </p:cNvPr>
          <p:cNvSpPr txBox="1"/>
          <p:nvPr/>
        </p:nvSpPr>
        <p:spPr>
          <a:xfrm>
            <a:off x="755575" y="1146723"/>
            <a:ext cx="7776865" cy="523220"/>
          </a:xfrm>
          <a:prstGeom prst="rect">
            <a:avLst/>
          </a:prstGeom>
          <a:noFill/>
        </p:spPr>
        <p:txBody>
          <a:bodyPr wrap="square" rtlCol="0">
            <a:spAutoFit/>
          </a:bodyPr>
          <a:lstStyle/>
          <a:p>
            <a:pPr algn="ctr"/>
            <a:r>
              <a:rPr lang="en-GB" sz="1400" dirty="0">
                <a:latin typeface="Arial Nova Cond" panose="020B0504020202020204" pitchFamily="34" charset="0"/>
              </a:rPr>
              <a:t>WFH has fragmented weekday demand, reducing frequency but not CBD reliance, requiring more localised and flexible transport planning</a:t>
            </a:r>
            <a:endParaRPr lang="en-US" sz="1400" dirty="0">
              <a:latin typeface="Arial Nova Cond" panose="020B0504020202020204" pitchFamily="34" charset="0"/>
            </a:endParaRPr>
          </a:p>
        </p:txBody>
      </p:sp>
      <p:sp>
        <p:nvSpPr>
          <p:cNvPr id="2" name="Rectangle 1">
            <a:extLst>
              <a:ext uri="{FF2B5EF4-FFF2-40B4-BE49-F238E27FC236}">
                <a16:creationId xmlns:a16="http://schemas.microsoft.com/office/drawing/2014/main" id="{28AFE4A5-D53A-1D99-90C9-7D45145870A8}"/>
              </a:ext>
            </a:extLst>
          </p:cNvPr>
          <p:cNvSpPr/>
          <p:nvPr/>
        </p:nvSpPr>
        <p:spPr>
          <a:xfrm>
            <a:off x="4571999" y="5202194"/>
            <a:ext cx="4392488" cy="1200330"/>
          </a:xfrm>
          <a:prstGeom prst="rect">
            <a:avLst/>
          </a:prstGeom>
          <a:solidFill>
            <a:srgbClr val="FFCB0A">
              <a:alpha val="35294"/>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4E6CBB7-7BCF-0D1C-5438-E6B72863B4D6}"/>
              </a:ext>
            </a:extLst>
          </p:cNvPr>
          <p:cNvSpPr txBox="1"/>
          <p:nvPr/>
        </p:nvSpPr>
        <p:spPr>
          <a:xfrm>
            <a:off x="4571998" y="5202195"/>
            <a:ext cx="4392487" cy="1200329"/>
          </a:xfrm>
          <a:prstGeom prst="rect">
            <a:avLst/>
          </a:prstGeom>
          <a:noFill/>
        </p:spPr>
        <p:txBody>
          <a:bodyPr wrap="square" rtlCol="0">
            <a:spAutoFit/>
          </a:bodyPr>
          <a:lstStyle/>
          <a:p>
            <a:pPr algn="ctr"/>
            <a:r>
              <a:rPr lang="en-GB" sz="900" b="1" dirty="0">
                <a:latin typeface="Arial Nova" panose="020B0504020202020204" pitchFamily="34" charset="0"/>
              </a:rPr>
              <a:t>Impact on Transport Planning</a:t>
            </a:r>
          </a:p>
          <a:p>
            <a:pPr marL="171450" indent="-171450">
              <a:buFont typeface="Arial" panose="020B0604020202020204" pitchFamily="34" charset="0"/>
              <a:buChar char="•"/>
            </a:pPr>
            <a:r>
              <a:rPr lang="en-GB" sz="900" dirty="0">
                <a:latin typeface="Arial Nova" panose="020B0504020202020204" pitchFamily="34" charset="0"/>
              </a:rPr>
              <a:t>CBD travel is still important less regular. Planning should shift from "peak capacity" to "consistent frequency" throughout the day.</a:t>
            </a:r>
          </a:p>
          <a:p>
            <a:pPr marL="171450" indent="-171450">
              <a:buFont typeface="Arial" panose="020B0604020202020204" pitchFamily="34" charset="0"/>
              <a:buChar char="•"/>
            </a:pPr>
            <a:r>
              <a:rPr lang="en-GB" sz="900" dirty="0">
                <a:latin typeface="Arial Nova" panose="020B0504020202020204" pitchFamily="34" charset="0"/>
              </a:rPr>
              <a:t>NSW Transport should adopt place-based and flexible service planning, scaling services at growth areas with lower WFH potential (e.g., outer suburbs where manual/service </a:t>
            </a:r>
            <a:r>
              <a:rPr lang="en-GB" sz="900" dirty="0" err="1">
                <a:latin typeface="Arial Nova" panose="020B0504020202020204" pitchFamily="34" charset="0"/>
              </a:rPr>
              <a:t>labor</a:t>
            </a:r>
            <a:r>
              <a:rPr lang="en-GB" sz="900" dirty="0">
                <a:latin typeface="Arial Nova" panose="020B0504020202020204" pitchFamily="34" charset="0"/>
              </a:rPr>
              <a:t> is more prevalent)</a:t>
            </a:r>
          </a:p>
          <a:p>
            <a:pPr marL="171450" indent="-171450">
              <a:buFont typeface="Arial" panose="020B0604020202020204" pitchFamily="34" charset="0"/>
              <a:buChar char="•"/>
            </a:pPr>
            <a:r>
              <a:rPr lang="en-GB" sz="900" dirty="0">
                <a:latin typeface="Arial Nova" panose="020B0504020202020204" pitchFamily="34" charset="0"/>
              </a:rPr>
              <a:t>At high WFH areas, their travel patterns likely shift toward local trips. Transport planning should prioritize local </a:t>
            </a:r>
            <a:r>
              <a:rPr lang="en-GB" sz="900" dirty="0" err="1">
                <a:latin typeface="Arial Nova" panose="020B0504020202020204" pitchFamily="34" charset="0"/>
              </a:rPr>
              <a:t>neighborhood</a:t>
            </a:r>
            <a:r>
              <a:rPr lang="en-GB" sz="900" dirty="0">
                <a:latin typeface="Arial Nova" panose="020B0504020202020204" pitchFamily="34" charset="0"/>
              </a:rPr>
              <a:t> connections</a:t>
            </a:r>
          </a:p>
        </p:txBody>
      </p:sp>
      <p:pic>
        <p:nvPicPr>
          <p:cNvPr id="19" name="Graphic 18">
            <a:extLst>
              <a:ext uri="{FF2B5EF4-FFF2-40B4-BE49-F238E27FC236}">
                <a16:creationId xmlns:a16="http://schemas.microsoft.com/office/drawing/2014/main" id="{3B91A07C-6088-B10C-2CB5-B321B313E41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362" y="6469033"/>
            <a:ext cx="1069132" cy="280453"/>
          </a:xfrm>
          <a:prstGeom prst="rect">
            <a:avLst/>
          </a:prstGeom>
        </p:spPr>
      </p:pic>
      <p:pic>
        <p:nvPicPr>
          <p:cNvPr id="23" name="Picture 22" descr="A graph of a distribution of adoption&#10;&#10;AI-generated content may be incorrect.">
            <a:extLst>
              <a:ext uri="{FF2B5EF4-FFF2-40B4-BE49-F238E27FC236}">
                <a16:creationId xmlns:a16="http://schemas.microsoft.com/office/drawing/2014/main" id="{C0F1104A-1B2A-7DD3-C061-9DC18BED2E69}"/>
              </a:ext>
            </a:extLst>
          </p:cNvPr>
          <p:cNvPicPr>
            <a:picLocks noChangeAspect="1"/>
          </p:cNvPicPr>
          <p:nvPr/>
        </p:nvPicPr>
        <p:blipFill>
          <a:blip r:embed="rId8"/>
          <a:stretch>
            <a:fillRect/>
          </a:stretch>
        </p:blipFill>
        <p:spPr>
          <a:xfrm>
            <a:off x="202362" y="2026471"/>
            <a:ext cx="4739397" cy="2720245"/>
          </a:xfrm>
          <a:prstGeom prst="rect">
            <a:avLst/>
          </a:prstGeom>
        </p:spPr>
      </p:pic>
      <p:pic>
        <p:nvPicPr>
          <p:cNvPr id="29" name="Picture 28" descr="A graph of a number of people&#10;&#10;AI-generated content may be incorrect.">
            <a:extLst>
              <a:ext uri="{FF2B5EF4-FFF2-40B4-BE49-F238E27FC236}">
                <a16:creationId xmlns:a16="http://schemas.microsoft.com/office/drawing/2014/main" id="{4F8F20D8-9D62-AA0C-9231-1293C5145ACA}"/>
              </a:ext>
            </a:extLst>
          </p:cNvPr>
          <p:cNvPicPr>
            <a:picLocks noChangeAspect="1"/>
          </p:cNvPicPr>
          <p:nvPr/>
        </p:nvPicPr>
        <p:blipFill>
          <a:blip r:embed="rId9"/>
          <a:stretch>
            <a:fillRect/>
          </a:stretch>
        </p:blipFill>
        <p:spPr>
          <a:xfrm>
            <a:off x="5585312" y="1773415"/>
            <a:ext cx="3122498" cy="1619691"/>
          </a:xfrm>
          <a:prstGeom prst="rect">
            <a:avLst/>
          </a:prstGeom>
        </p:spPr>
      </p:pic>
      <p:pic>
        <p:nvPicPr>
          <p:cNvPr id="6" name="Picture 5" descr="A chart with yellow dots&#10;&#10;AI-generated content may be incorrect.">
            <a:extLst>
              <a:ext uri="{FF2B5EF4-FFF2-40B4-BE49-F238E27FC236}">
                <a16:creationId xmlns:a16="http://schemas.microsoft.com/office/drawing/2014/main" id="{80018376-CE82-01D5-F401-98D65A23D1CD}"/>
              </a:ext>
            </a:extLst>
          </p:cNvPr>
          <p:cNvPicPr>
            <a:picLocks noChangeAspect="1"/>
          </p:cNvPicPr>
          <p:nvPr/>
        </p:nvPicPr>
        <p:blipFill>
          <a:blip r:embed="rId10"/>
          <a:stretch>
            <a:fillRect/>
          </a:stretch>
        </p:blipFill>
        <p:spPr>
          <a:xfrm>
            <a:off x="5652649" y="3414543"/>
            <a:ext cx="3055161" cy="1731803"/>
          </a:xfrm>
          <a:prstGeom prst="rect">
            <a:avLst/>
          </a:prstGeom>
        </p:spPr>
      </p:pic>
    </p:spTree>
    <p:extLst>
      <p:ext uri="{BB962C8B-B14F-4D97-AF65-F5344CB8AC3E}">
        <p14:creationId xmlns:p14="http://schemas.microsoft.com/office/powerpoint/2010/main" val="2341570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2E391-C6DD-9C5B-F650-1A0AE3216F3F}"/>
            </a:ext>
          </a:extLst>
        </p:cNvPr>
        <p:cNvGrpSpPr/>
        <p:nvPr/>
      </p:nvGrpSpPr>
      <p:grpSpPr>
        <a:xfrm>
          <a:off x="0" y="0"/>
          <a:ext cx="0" cy="0"/>
          <a:chOff x="0" y="0"/>
          <a:chExt cx="0" cy="0"/>
        </a:xfrm>
      </p:grpSpPr>
      <p:sp>
        <p:nvSpPr>
          <p:cNvPr id="2054" name="Rectangle 6">
            <a:extLst>
              <a:ext uri="{FF2B5EF4-FFF2-40B4-BE49-F238E27FC236}">
                <a16:creationId xmlns:a16="http://schemas.microsoft.com/office/drawing/2014/main" id="{16946122-0DB3-9E6C-591E-280505E850FB}"/>
              </a:ext>
            </a:extLst>
          </p:cNvPr>
          <p:cNvSpPr>
            <a:spLocks noChangeArrowheads="1"/>
          </p:cNvSpPr>
          <p:nvPr/>
        </p:nvSpPr>
        <p:spPr bwMode="auto">
          <a:xfrm>
            <a:off x="0" y="5867400"/>
            <a:ext cx="2667000" cy="9906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aphicFrame>
        <p:nvGraphicFramePr>
          <p:cNvPr id="2055" name="Object 7">
            <a:extLst>
              <a:ext uri="{FF2B5EF4-FFF2-40B4-BE49-F238E27FC236}">
                <a16:creationId xmlns:a16="http://schemas.microsoft.com/office/drawing/2014/main" id="{B17A1AE2-C4FB-553B-4D76-CFC728E9CEB9}"/>
              </a:ext>
            </a:extLst>
          </p:cNvPr>
          <p:cNvGraphicFramePr>
            <a:graphicFrameLocks noChangeAspect="1"/>
          </p:cNvGraphicFramePr>
          <p:nvPr/>
        </p:nvGraphicFramePr>
        <p:xfrm>
          <a:off x="7380312" y="6352340"/>
          <a:ext cx="1763688" cy="505660"/>
        </p:xfrm>
        <a:graphic>
          <a:graphicData uri="http://schemas.openxmlformats.org/presentationml/2006/ole">
            <mc:AlternateContent xmlns:mc="http://schemas.openxmlformats.org/markup-compatibility/2006">
              <mc:Choice xmlns:v="urn:schemas-microsoft-com:vml" Requires="v">
                <p:oleObj name="Image" r:id="rId3" imgW="13106400" imgH="3752850" progId="Photoshop.Image.6">
                  <p:embed/>
                </p:oleObj>
              </mc:Choice>
              <mc:Fallback>
                <p:oleObj name="Image" r:id="rId3" imgW="13106400" imgH="3752850" progId="Photoshop.Image.6">
                  <p:embed/>
                  <p:pic>
                    <p:nvPicPr>
                      <p:cNvPr id="2055" name="Object 7">
                        <a:extLst>
                          <a:ext uri="{FF2B5EF4-FFF2-40B4-BE49-F238E27FC236}">
                            <a16:creationId xmlns:a16="http://schemas.microsoft.com/office/drawing/2014/main" id="{F3AB80E8-7A74-BF78-97E0-AA39CE5A5D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0312" y="6352340"/>
                        <a:ext cx="1763688" cy="505660"/>
                      </a:xfrm>
                      <a:prstGeom prst="rect">
                        <a:avLst/>
                      </a:prstGeom>
                      <a:noFill/>
                      <a:ln>
                        <a:noFill/>
                      </a:ln>
                      <a:effectLst/>
                    </p:spPr>
                  </p:pic>
                </p:oleObj>
              </mc:Fallback>
            </mc:AlternateContent>
          </a:graphicData>
        </a:graphic>
      </p:graphicFrame>
      <p:pic>
        <p:nvPicPr>
          <p:cNvPr id="5" name="Picture 4">
            <a:extLst>
              <a:ext uri="{FF2B5EF4-FFF2-40B4-BE49-F238E27FC236}">
                <a16:creationId xmlns:a16="http://schemas.microsoft.com/office/drawing/2014/main" id="{336A03D5-25EC-24AC-F78C-B0A30D8BE7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6522" y="455476"/>
            <a:ext cx="2565994" cy="216024"/>
          </a:xfrm>
          <a:prstGeom prst="rect">
            <a:avLst/>
          </a:prstGeom>
        </p:spPr>
      </p:pic>
      <p:sp>
        <p:nvSpPr>
          <p:cNvPr id="7" name="Rectangle 6">
            <a:extLst>
              <a:ext uri="{FF2B5EF4-FFF2-40B4-BE49-F238E27FC236}">
                <a16:creationId xmlns:a16="http://schemas.microsoft.com/office/drawing/2014/main" id="{0BCA8FFE-5C12-55CC-4D8F-8DBF4F24F529}"/>
              </a:ext>
            </a:extLst>
          </p:cNvPr>
          <p:cNvSpPr/>
          <p:nvPr/>
        </p:nvSpPr>
        <p:spPr>
          <a:xfrm>
            <a:off x="0" y="836712"/>
            <a:ext cx="9144000" cy="144016"/>
          </a:xfrm>
          <a:prstGeom prst="rect">
            <a:avLst/>
          </a:prstGeom>
          <a:solidFill>
            <a:srgbClr val="FFCB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34D67F9-F961-15C1-ADBA-D1A3DC05754D}"/>
              </a:ext>
            </a:extLst>
          </p:cNvPr>
          <p:cNvSpPr txBox="1"/>
          <p:nvPr/>
        </p:nvSpPr>
        <p:spPr>
          <a:xfrm>
            <a:off x="141447" y="315234"/>
            <a:ext cx="6984776" cy="369332"/>
          </a:xfrm>
          <a:prstGeom prst="rect">
            <a:avLst/>
          </a:prstGeom>
          <a:noFill/>
        </p:spPr>
        <p:txBody>
          <a:bodyPr wrap="square" rtlCol="0">
            <a:spAutoFit/>
          </a:bodyPr>
          <a:lstStyle/>
          <a:p>
            <a:r>
              <a:rPr lang="en-GB" sz="1800" b="1" dirty="0">
                <a:latin typeface="Arial Nova Cond" panose="020B0504020202020204" pitchFamily="34" charset="0"/>
                <a:ea typeface="Apple Symbols" panose="02000000000000000000" pitchFamily="2" charset="-79"/>
              </a:rPr>
              <a:t>Where should NSW Transport consider prioritising bus services?</a:t>
            </a:r>
            <a:endParaRPr lang="en-US" sz="1800" b="1" dirty="0">
              <a:latin typeface="Arial Nova Cond" panose="020B0504020202020204" pitchFamily="34" charset="0"/>
              <a:ea typeface="Apple Symbols" panose="02000000000000000000" pitchFamily="2" charset="-79"/>
            </a:endParaRPr>
          </a:p>
        </p:txBody>
      </p:sp>
      <p:sp>
        <p:nvSpPr>
          <p:cNvPr id="11" name="Rectangle 10">
            <a:extLst>
              <a:ext uri="{FF2B5EF4-FFF2-40B4-BE49-F238E27FC236}">
                <a16:creationId xmlns:a16="http://schemas.microsoft.com/office/drawing/2014/main" id="{0E66E032-4551-3FF6-B3C0-2429F620C501}"/>
              </a:ext>
            </a:extLst>
          </p:cNvPr>
          <p:cNvSpPr/>
          <p:nvPr/>
        </p:nvSpPr>
        <p:spPr>
          <a:xfrm>
            <a:off x="178524" y="5071736"/>
            <a:ext cx="8712968" cy="1275934"/>
          </a:xfrm>
          <a:prstGeom prst="rect">
            <a:avLst/>
          </a:prstGeom>
          <a:solidFill>
            <a:srgbClr val="FFCB0A">
              <a:alpha val="35294"/>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D259D975-B552-AB7E-FF28-3134E823217A}"/>
              </a:ext>
            </a:extLst>
          </p:cNvPr>
          <p:cNvSpPr txBox="1"/>
          <p:nvPr/>
        </p:nvSpPr>
        <p:spPr>
          <a:xfrm>
            <a:off x="141447" y="5147341"/>
            <a:ext cx="8784976" cy="1200329"/>
          </a:xfrm>
          <a:prstGeom prst="rect">
            <a:avLst/>
          </a:prstGeom>
          <a:noFill/>
        </p:spPr>
        <p:txBody>
          <a:bodyPr wrap="square" rtlCol="0">
            <a:spAutoFit/>
          </a:bodyPr>
          <a:lstStyle/>
          <a:p>
            <a:pPr marL="171450" indent="-171450">
              <a:buFont typeface="Arial" panose="020B0604020202020204" pitchFamily="34" charset="0"/>
              <a:buChar char="•"/>
            </a:pPr>
            <a:r>
              <a:rPr lang="en-GB" sz="1200" b="1" dirty="0" err="1">
                <a:latin typeface="Arial Nova" panose="020B0504020202020204" pitchFamily="34" charset="0"/>
              </a:rPr>
              <a:t>Erskineville</a:t>
            </a:r>
            <a:r>
              <a:rPr lang="en-GB" sz="1200" b="1" dirty="0">
                <a:latin typeface="Arial Nova" panose="020B0504020202020204" pitchFamily="34" charset="0"/>
              </a:rPr>
              <a:t>–Alexandria, Potts Point–Woolloomooloo, and Glebe–Forest Lodge </a:t>
            </a:r>
            <a:r>
              <a:rPr lang="en-GB" sz="1200" dirty="0">
                <a:latin typeface="Arial Nova" panose="020B0504020202020204" pitchFamily="34" charset="0"/>
              </a:rPr>
              <a:t>dominate due to </a:t>
            </a:r>
            <a:r>
              <a:rPr lang="en-GB" sz="1200" b="1" dirty="0">
                <a:latin typeface="Arial Nova" panose="020B0504020202020204" pitchFamily="34" charset="0"/>
              </a:rPr>
              <a:t>high absolute volumes of CBD-bound commuters</a:t>
            </a:r>
            <a:r>
              <a:rPr lang="en-GB" sz="1200" dirty="0">
                <a:latin typeface="Arial Nova" panose="020B0504020202020204" pitchFamily="34" charset="0"/>
              </a:rPr>
              <a:t> (each in the hundreds) combined with </a:t>
            </a:r>
            <a:r>
              <a:rPr lang="en-GB" sz="1200" b="1" dirty="0">
                <a:latin typeface="Arial Nova" panose="020B0504020202020204" pitchFamily="34" charset="0"/>
              </a:rPr>
              <a:t>low public transport share </a:t>
            </a:r>
            <a:r>
              <a:rPr lang="en-GB" sz="1200" dirty="0">
                <a:latin typeface="Arial Nova" panose="020B0504020202020204" pitchFamily="34" charset="0"/>
              </a:rPr>
              <a:t>(≈30–40%) (Fig.6)</a:t>
            </a:r>
          </a:p>
          <a:p>
            <a:pPr marL="171450" indent="-171450">
              <a:buFont typeface="Arial" panose="020B0604020202020204" pitchFamily="34" charset="0"/>
              <a:buChar char="•"/>
            </a:pPr>
            <a:r>
              <a:rPr lang="en-GB" sz="1200" b="1" dirty="0">
                <a:latin typeface="Arial Nova" panose="020B0504020202020204" pitchFamily="34" charset="0"/>
              </a:rPr>
              <a:t>Sydney (South)–Haymarket, Surry Hills, and Waterloo </a:t>
            </a:r>
            <a:r>
              <a:rPr lang="en-GB" sz="1200" dirty="0">
                <a:latin typeface="Arial Nova" panose="020B0504020202020204" pitchFamily="34" charset="0"/>
              </a:rPr>
              <a:t>rank highly because of </a:t>
            </a:r>
            <a:r>
              <a:rPr lang="en-GB" sz="1200" b="1" dirty="0">
                <a:latin typeface="Arial Nova" panose="020B0504020202020204" pitchFamily="34" charset="0"/>
              </a:rPr>
              <a:t>very low WFH rates </a:t>
            </a:r>
            <a:r>
              <a:rPr lang="en-GB" sz="1200" dirty="0">
                <a:latin typeface="Arial Nova" panose="020B0504020202020204" pitchFamily="34" charset="0"/>
              </a:rPr>
              <a:t>(generally below ~25%) (Fig.6)</a:t>
            </a:r>
          </a:p>
          <a:p>
            <a:pPr marL="171450" indent="-171450">
              <a:buFont typeface="Arial" panose="020B0604020202020204" pitchFamily="34" charset="0"/>
              <a:buChar char="•"/>
            </a:pPr>
            <a:r>
              <a:rPr lang="en-GB" sz="1200" b="1" dirty="0">
                <a:latin typeface="Arial Nova" panose="020B0504020202020204" pitchFamily="34" charset="0"/>
              </a:rPr>
              <a:t>Port Macquarie–West </a:t>
            </a:r>
            <a:r>
              <a:rPr lang="en-GB" sz="1200" dirty="0">
                <a:latin typeface="Arial Nova" panose="020B0504020202020204" pitchFamily="34" charset="0"/>
              </a:rPr>
              <a:t>is the only regional SA2 in the top 10, driven by extremely </a:t>
            </a:r>
            <a:r>
              <a:rPr lang="en-GB" sz="1200" b="1" dirty="0">
                <a:latin typeface="Arial Nova" panose="020B0504020202020204" pitchFamily="34" charset="0"/>
              </a:rPr>
              <a:t>low public transport share </a:t>
            </a:r>
            <a:r>
              <a:rPr lang="en-GB" sz="1200" dirty="0">
                <a:latin typeface="Arial Nova" panose="020B0504020202020204" pitchFamily="34" charset="0"/>
              </a:rPr>
              <a:t>(below 1%) and </a:t>
            </a:r>
            <a:r>
              <a:rPr lang="en-GB" sz="1200" b="1" dirty="0">
                <a:latin typeface="Arial Nova" panose="020B0504020202020204" pitchFamily="34" charset="0"/>
              </a:rPr>
              <a:t>limited WFH adoption </a:t>
            </a:r>
            <a:r>
              <a:rPr lang="en-GB" sz="1200" dirty="0">
                <a:latin typeface="Arial Nova" panose="020B0504020202020204" pitchFamily="34" charset="0"/>
              </a:rPr>
              <a:t>(around 10–15%) (Fig.6)</a:t>
            </a:r>
          </a:p>
        </p:txBody>
      </p:sp>
      <p:sp>
        <p:nvSpPr>
          <p:cNvPr id="16" name="TextBox 15">
            <a:extLst>
              <a:ext uri="{FF2B5EF4-FFF2-40B4-BE49-F238E27FC236}">
                <a16:creationId xmlns:a16="http://schemas.microsoft.com/office/drawing/2014/main" id="{84231327-4873-2869-0186-FA69C807D6D6}"/>
              </a:ext>
            </a:extLst>
          </p:cNvPr>
          <p:cNvSpPr txBox="1"/>
          <p:nvPr/>
        </p:nvSpPr>
        <p:spPr>
          <a:xfrm>
            <a:off x="6531801" y="2132856"/>
            <a:ext cx="2025334" cy="2246769"/>
          </a:xfrm>
          <a:prstGeom prst="rect">
            <a:avLst/>
          </a:prstGeom>
          <a:solidFill>
            <a:srgbClr val="FFCB0A">
              <a:alpha val="43714"/>
            </a:srgbClr>
          </a:solidFill>
        </p:spPr>
        <p:txBody>
          <a:bodyPr wrap="square" rtlCol="0">
            <a:spAutoFit/>
          </a:bodyPr>
          <a:lstStyle/>
          <a:p>
            <a:r>
              <a:rPr lang="en-GB" sz="1000" b="1" dirty="0">
                <a:latin typeface="Arial Nova" panose="020B0504020202020204" pitchFamily="34" charset="0"/>
              </a:rPr>
              <a:t>Score Distribution: </a:t>
            </a:r>
          </a:p>
          <a:p>
            <a:pPr marL="171450" indent="-171450">
              <a:buFont typeface="Arial" panose="020B0604020202020204" pitchFamily="34" charset="0"/>
              <a:buChar char="•"/>
            </a:pPr>
            <a:r>
              <a:rPr lang="en-GB" sz="1000" dirty="0">
                <a:latin typeface="Arial Nova" panose="020B0504020202020204" pitchFamily="34" charset="0"/>
              </a:rPr>
              <a:t>40% – High absolute CBD commuter volume</a:t>
            </a:r>
          </a:p>
          <a:p>
            <a:pPr marL="171450" indent="-171450">
              <a:buFont typeface="Arial" panose="020B0604020202020204" pitchFamily="34" charset="0"/>
              <a:buChar char="•"/>
            </a:pPr>
            <a:r>
              <a:rPr lang="en-GB" sz="1000" dirty="0">
                <a:latin typeface="Arial Nova" panose="020B0504020202020204" pitchFamily="34" charset="0"/>
              </a:rPr>
              <a:t>20% – Positive CBD commuter growth (2016–21)</a:t>
            </a:r>
          </a:p>
          <a:p>
            <a:pPr marL="171450" indent="-171450">
              <a:buFont typeface="Arial" panose="020B0604020202020204" pitchFamily="34" charset="0"/>
              <a:buChar char="•"/>
            </a:pPr>
            <a:r>
              <a:rPr lang="en-GB" sz="1000" dirty="0">
                <a:latin typeface="Arial Nova" panose="020B0504020202020204" pitchFamily="34" charset="0"/>
              </a:rPr>
              <a:t>20% – Low current public transport share</a:t>
            </a:r>
          </a:p>
          <a:p>
            <a:pPr marL="171450" indent="-171450">
              <a:buFont typeface="Arial" panose="020B0604020202020204" pitchFamily="34" charset="0"/>
              <a:buChar char="•"/>
            </a:pPr>
            <a:r>
              <a:rPr lang="en-GB" sz="1000" dirty="0">
                <a:latin typeface="Arial Nova" panose="020B0504020202020204" pitchFamily="34" charset="0"/>
              </a:rPr>
              <a:t>10% – Lower WFH rate (greater likelihood of physical commuting)</a:t>
            </a:r>
          </a:p>
          <a:p>
            <a:pPr marL="171450" indent="-171450">
              <a:buFont typeface="Arial" panose="020B0604020202020204" pitchFamily="34" charset="0"/>
              <a:buChar char="•"/>
            </a:pPr>
            <a:r>
              <a:rPr lang="en-GB" sz="1000" dirty="0">
                <a:latin typeface="Arial Nova" panose="020B0504020202020204" pitchFamily="34" charset="0"/>
              </a:rPr>
              <a:t>10% – Presence of mixed-mode travel (indicating multimodal openness)</a:t>
            </a:r>
          </a:p>
          <a:p>
            <a:endParaRPr lang="en-US" sz="1000" dirty="0">
              <a:latin typeface="Arial Nova" panose="020B0504020202020204" pitchFamily="34" charset="0"/>
            </a:endParaRPr>
          </a:p>
        </p:txBody>
      </p:sp>
      <p:sp>
        <p:nvSpPr>
          <p:cNvPr id="17" name="TextBox 16">
            <a:extLst>
              <a:ext uri="{FF2B5EF4-FFF2-40B4-BE49-F238E27FC236}">
                <a16:creationId xmlns:a16="http://schemas.microsoft.com/office/drawing/2014/main" id="{87EED652-DAF7-4F66-C4DD-4FD480738875}"/>
              </a:ext>
            </a:extLst>
          </p:cNvPr>
          <p:cNvSpPr txBox="1"/>
          <p:nvPr/>
        </p:nvSpPr>
        <p:spPr>
          <a:xfrm>
            <a:off x="755575" y="1146723"/>
            <a:ext cx="7776865" cy="523220"/>
          </a:xfrm>
          <a:prstGeom prst="rect">
            <a:avLst/>
          </a:prstGeom>
          <a:noFill/>
        </p:spPr>
        <p:txBody>
          <a:bodyPr wrap="square" rtlCol="0">
            <a:spAutoFit/>
          </a:bodyPr>
          <a:lstStyle/>
          <a:p>
            <a:pPr algn="ctr"/>
            <a:r>
              <a:rPr lang="en-GB" sz="1400" dirty="0">
                <a:latin typeface="Arial Nova" panose="020B0504020202020204" pitchFamily="34" charset="0"/>
              </a:rPr>
              <a:t>Targeted CBD bus routes in these SA2s offer the highest near-term return, serving real, growing demand where public transport is currently under-provided.</a:t>
            </a:r>
            <a:endParaRPr lang="en-US" sz="1400" dirty="0">
              <a:latin typeface="Arial Nova" panose="020B0504020202020204" pitchFamily="34" charset="0"/>
            </a:endParaRPr>
          </a:p>
        </p:txBody>
      </p:sp>
      <p:pic>
        <p:nvPicPr>
          <p:cNvPr id="19" name="Graphic 18">
            <a:extLst>
              <a:ext uri="{FF2B5EF4-FFF2-40B4-BE49-F238E27FC236}">
                <a16:creationId xmlns:a16="http://schemas.microsoft.com/office/drawing/2014/main" id="{E34D2326-5927-F053-B0CC-735BBE5211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362" y="6469033"/>
            <a:ext cx="1069132" cy="280453"/>
          </a:xfrm>
          <a:prstGeom prst="rect">
            <a:avLst/>
          </a:prstGeom>
        </p:spPr>
      </p:pic>
      <p:pic>
        <p:nvPicPr>
          <p:cNvPr id="24" name="Picture 23" descr="A graph of a number of yellow bars&#10;&#10;AI-generated content may be incorrect.">
            <a:extLst>
              <a:ext uri="{FF2B5EF4-FFF2-40B4-BE49-F238E27FC236}">
                <a16:creationId xmlns:a16="http://schemas.microsoft.com/office/drawing/2014/main" id="{F65E909A-E189-8CF4-13F0-61590F46CB11}"/>
              </a:ext>
            </a:extLst>
          </p:cNvPr>
          <p:cNvPicPr>
            <a:picLocks noChangeAspect="1"/>
          </p:cNvPicPr>
          <p:nvPr/>
        </p:nvPicPr>
        <p:blipFill>
          <a:blip r:embed="rId8"/>
          <a:stretch>
            <a:fillRect/>
          </a:stretch>
        </p:blipFill>
        <p:spPr>
          <a:xfrm>
            <a:off x="338401" y="1816956"/>
            <a:ext cx="5313719" cy="3012054"/>
          </a:xfrm>
          <a:prstGeom prst="rect">
            <a:avLst/>
          </a:prstGeom>
        </p:spPr>
      </p:pic>
    </p:spTree>
    <p:extLst>
      <p:ext uri="{BB962C8B-B14F-4D97-AF65-F5344CB8AC3E}">
        <p14:creationId xmlns:p14="http://schemas.microsoft.com/office/powerpoint/2010/main" val="18204813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B411A-18A6-E865-49F4-D33A21EC5009}"/>
            </a:ext>
          </a:extLst>
        </p:cNvPr>
        <p:cNvGrpSpPr/>
        <p:nvPr/>
      </p:nvGrpSpPr>
      <p:grpSpPr>
        <a:xfrm>
          <a:off x="0" y="0"/>
          <a:ext cx="0" cy="0"/>
          <a:chOff x="0" y="0"/>
          <a:chExt cx="0" cy="0"/>
        </a:xfrm>
      </p:grpSpPr>
      <p:sp>
        <p:nvSpPr>
          <p:cNvPr id="2054" name="Rectangle 6">
            <a:extLst>
              <a:ext uri="{FF2B5EF4-FFF2-40B4-BE49-F238E27FC236}">
                <a16:creationId xmlns:a16="http://schemas.microsoft.com/office/drawing/2014/main" id="{CA229A50-3D80-C7CB-650A-F29065CC56DE}"/>
              </a:ext>
            </a:extLst>
          </p:cNvPr>
          <p:cNvSpPr>
            <a:spLocks noChangeArrowheads="1"/>
          </p:cNvSpPr>
          <p:nvPr/>
        </p:nvSpPr>
        <p:spPr bwMode="auto">
          <a:xfrm>
            <a:off x="0" y="5867400"/>
            <a:ext cx="2667000" cy="9906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aphicFrame>
        <p:nvGraphicFramePr>
          <p:cNvPr id="2055" name="Object 7">
            <a:extLst>
              <a:ext uri="{FF2B5EF4-FFF2-40B4-BE49-F238E27FC236}">
                <a16:creationId xmlns:a16="http://schemas.microsoft.com/office/drawing/2014/main" id="{CC6A0495-0472-2B33-B7A7-6A7311FF7548}"/>
              </a:ext>
            </a:extLst>
          </p:cNvPr>
          <p:cNvGraphicFramePr>
            <a:graphicFrameLocks noChangeAspect="1"/>
          </p:cNvGraphicFramePr>
          <p:nvPr/>
        </p:nvGraphicFramePr>
        <p:xfrm>
          <a:off x="7380312" y="6352340"/>
          <a:ext cx="1763688" cy="505660"/>
        </p:xfrm>
        <a:graphic>
          <a:graphicData uri="http://schemas.openxmlformats.org/presentationml/2006/ole">
            <mc:AlternateContent xmlns:mc="http://schemas.openxmlformats.org/markup-compatibility/2006">
              <mc:Choice xmlns:v="urn:schemas-microsoft-com:vml" Requires="v">
                <p:oleObj name="Image" r:id="rId3" imgW="13106400" imgH="3752850" progId="Photoshop.Image.6">
                  <p:embed/>
                </p:oleObj>
              </mc:Choice>
              <mc:Fallback>
                <p:oleObj name="Image" r:id="rId3" imgW="13106400" imgH="3752850" progId="Photoshop.Image.6">
                  <p:embed/>
                  <p:pic>
                    <p:nvPicPr>
                      <p:cNvPr id="2055" name="Object 7">
                        <a:extLst>
                          <a:ext uri="{FF2B5EF4-FFF2-40B4-BE49-F238E27FC236}">
                            <a16:creationId xmlns:a16="http://schemas.microsoft.com/office/drawing/2014/main" id="{C2046DEA-A683-0772-47A0-4C034A6BEE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0312" y="6352340"/>
                        <a:ext cx="1763688" cy="505660"/>
                      </a:xfrm>
                      <a:prstGeom prst="rect">
                        <a:avLst/>
                      </a:prstGeom>
                      <a:noFill/>
                      <a:ln>
                        <a:noFill/>
                      </a:ln>
                      <a:effectLst/>
                    </p:spPr>
                  </p:pic>
                </p:oleObj>
              </mc:Fallback>
            </mc:AlternateContent>
          </a:graphicData>
        </a:graphic>
      </p:graphicFrame>
      <p:pic>
        <p:nvPicPr>
          <p:cNvPr id="5" name="Picture 4">
            <a:extLst>
              <a:ext uri="{FF2B5EF4-FFF2-40B4-BE49-F238E27FC236}">
                <a16:creationId xmlns:a16="http://schemas.microsoft.com/office/drawing/2014/main" id="{D00DF7F1-D811-1147-6C28-A18CCC9A3C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6522" y="455476"/>
            <a:ext cx="2565994" cy="216024"/>
          </a:xfrm>
          <a:prstGeom prst="rect">
            <a:avLst/>
          </a:prstGeom>
        </p:spPr>
      </p:pic>
      <p:sp>
        <p:nvSpPr>
          <p:cNvPr id="7" name="Rectangle 6">
            <a:extLst>
              <a:ext uri="{FF2B5EF4-FFF2-40B4-BE49-F238E27FC236}">
                <a16:creationId xmlns:a16="http://schemas.microsoft.com/office/drawing/2014/main" id="{1091486E-4061-BB33-AA78-A52346D811B2}"/>
              </a:ext>
            </a:extLst>
          </p:cNvPr>
          <p:cNvSpPr/>
          <p:nvPr/>
        </p:nvSpPr>
        <p:spPr>
          <a:xfrm>
            <a:off x="0" y="836712"/>
            <a:ext cx="9144000" cy="144016"/>
          </a:xfrm>
          <a:prstGeom prst="rect">
            <a:avLst/>
          </a:prstGeom>
          <a:solidFill>
            <a:srgbClr val="FFCB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DA7A282-75D4-B742-F5B8-57E432D4C85F}"/>
              </a:ext>
            </a:extLst>
          </p:cNvPr>
          <p:cNvSpPr txBox="1"/>
          <p:nvPr/>
        </p:nvSpPr>
        <p:spPr>
          <a:xfrm>
            <a:off x="179512" y="332656"/>
            <a:ext cx="6984776" cy="369332"/>
          </a:xfrm>
          <a:prstGeom prst="rect">
            <a:avLst/>
          </a:prstGeom>
          <a:noFill/>
        </p:spPr>
        <p:txBody>
          <a:bodyPr wrap="square" rtlCol="0">
            <a:spAutoFit/>
          </a:bodyPr>
          <a:lstStyle/>
          <a:p>
            <a:r>
              <a:rPr lang="en-GB" sz="1800" b="1" dirty="0">
                <a:latin typeface="Arial Nova Cond" panose="020B0504020202020204" pitchFamily="34" charset="0"/>
                <a:ea typeface="Apple Symbols" panose="02000000000000000000" pitchFamily="2" charset="-79"/>
              </a:rPr>
              <a:t>How CommBank </a:t>
            </a:r>
            <a:r>
              <a:rPr lang="en-GB" sz="1800" b="1" dirty="0" err="1">
                <a:latin typeface="Arial Nova Cond" panose="020B0504020202020204" pitchFamily="34" charset="0"/>
                <a:ea typeface="Apple Symbols" panose="02000000000000000000" pitchFamily="2" charset="-79"/>
              </a:rPr>
              <a:t>iQ</a:t>
            </a:r>
            <a:r>
              <a:rPr lang="en-GB" sz="1800" b="1" dirty="0">
                <a:latin typeface="Arial Nova Cond" panose="020B0504020202020204" pitchFamily="34" charset="0"/>
                <a:ea typeface="Apple Symbols" panose="02000000000000000000" pitchFamily="2" charset="-79"/>
              </a:rPr>
              <a:t> &amp; other data could strengthen insights?</a:t>
            </a:r>
            <a:endParaRPr lang="en-US" sz="1800" b="1" dirty="0">
              <a:latin typeface="Arial Nova Cond" panose="020B0504020202020204" pitchFamily="34" charset="0"/>
              <a:ea typeface="Apple Symbols" panose="02000000000000000000" pitchFamily="2" charset="-79"/>
            </a:endParaRPr>
          </a:p>
        </p:txBody>
      </p:sp>
      <p:graphicFrame>
        <p:nvGraphicFramePr>
          <p:cNvPr id="2" name="Table 1">
            <a:extLst>
              <a:ext uri="{FF2B5EF4-FFF2-40B4-BE49-F238E27FC236}">
                <a16:creationId xmlns:a16="http://schemas.microsoft.com/office/drawing/2014/main" id="{AB47FBFC-93AE-878D-29DB-8B3542429CA3}"/>
              </a:ext>
            </a:extLst>
          </p:cNvPr>
          <p:cNvGraphicFramePr>
            <a:graphicFrameLocks noGrp="1"/>
          </p:cNvGraphicFramePr>
          <p:nvPr>
            <p:extLst>
              <p:ext uri="{D42A27DB-BD31-4B8C-83A1-F6EECF244321}">
                <p14:modId xmlns:p14="http://schemas.microsoft.com/office/powerpoint/2010/main" val="71587698"/>
              </p:ext>
            </p:extLst>
          </p:nvPr>
        </p:nvGraphicFramePr>
        <p:xfrm>
          <a:off x="485292" y="1711386"/>
          <a:ext cx="7776864" cy="1645920"/>
        </p:xfrm>
        <a:graphic>
          <a:graphicData uri="http://schemas.openxmlformats.org/drawingml/2006/table">
            <a:tbl>
              <a:tblPr/>
              <a:tblGrid>
                <a:gridCol w="2594272">
                  <a:extLst>
                    <a:ext uri="{9D8B030D-6E8A-4147-A177-3AD203B41FA5}">
                      <a16:colId xmlns:a16="http://schemas.microsoft.com/office/drawing/2014/main" val="878009797"/>
                    </a:ext>
                  </a:extLst>
                </a:gridCol>
                <a:gridCol w="2591296">
                  <a:extLst>
                    <a:ext uri="{9D8B030D-6E8A-4147-A177-3AD203B41FA5}">
                      <a16:colId xmlns:a16="http://schemas.microsoft.com/office/drawing/2014/main" val="1322462571"/>
                    </a:ext>
                  </a:extLst>
                </a:gridCol>
                <a:gridCol w="2591296">
                  <a:extLst>
                    <a:ext uri="{9D8B030D-6E8A-4147-A177-3AD203B41FA5}">
                      <a16:colId xmlns:a16="http://schemas.microsoft.com/office/drawing/2014/main" val="4095695095"/>
                    </a:ext>
                  </a:extLst>
                </a:gridCol>
              </a:tblGrid>
              <a:tr h="0">
                <a:tc>
                  <a:txBody>
                    <a:bodyPr/>
                    <a:lstStyle/>
                    <a:p>
                      <a:r>
                        <a:rPr lang="en-GB" sz="1200" b="1" i="0" dirty="0">
                          <a:latin typeface="Arial Nova" panose="020B0504020202020204" pitchFamily="34" charset="0"/>
                        </a:rPr>
                        <a:t>Gap in current analysis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r>
                        <a:rPr lang="en-GB" sz="1200" b="1" i="0" dirty="0">
                          <a:latin typeface="Arial Nova" panose="020B0504020202020204" pitchFamily="34" charset="0"/>
                        </a:rPr>
                        <a:t>What CommBank </a:t>
                      </a:r>
                      <a:r>
                        <a:rPr lang="en-GB" sz="1200" b="1" i="0" dirty="0" err="1">
                          <a:latin typeface="Arial Nova" panose="020B0504020202020204" pitchFamily="34" charset="0"/>
                        </a:rPr>
                        <a:t>iQ</a:t>
                      </a:r>
                      <a:r>
                        <a:rPr lang="en-GB" sz="1200" b="1" i="0" dirty="0">
                          <a:latin typeface="Arial Nova" panose="020B0504020202020204" pitchFamily="34" charset="0"/>
                        </a:rPr>
                        <a:t> adds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r>
                        <a:rPr lang="en-GB" sz="1200" b="1" i="0" dirty="0">
                          <a:latin typeface="Arial Nova" panose="020B0504020202020204" pitchFamily="34" charset="0"/>
                        </a:rPr>
                        <a:t>Use Case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extLst>
                  <a:ext uri="{0D108BD9-81ED-4DB2-BD59-A6C34878D82A}">
                    <a16:rowId xmlns:a16="http://schemas.microsoft.com/office/drawing/2014/main" val="3743536389"/>
                  </a:ext>
                </a:extLst>
              </a:tr>
              <a:tr h="0">
                <a:tc>
                  <a:txBody>
                    <a:bodyPr/>
                    <a:lstStyle/>
                    <a:p>
                      <a:r>
                        <a:rPr lang="en-GB" sz="1200" b="0" i="0" dirty="0">
                          <a:latin typeface="Arial Nova" panose="020B0504020202020204" pitchFamily="34" charset="0"/>
                        </a:rPr>
                        <a:t>Static census snapshots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dirty="0">
                          <a:latin typeface="Arial Nova" panose="020B0504020202020204" pitchFamily="34" charset="0"/>
                        </a:rPr>
                        <a:t>Near-real-time trends (monthly/weekly)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pPr marL="0" algn="l" defTabSz="914400" rtl="0" eaLnBrk="1" latinLnBrk="0" hangingPunct="1"/>
                      <a:r>
                        <a:rPr lang="en-GB" sz="1200" b="0" i="0" kern="1200" dirty="0">
                          <a:solidFill>
                            <a:schemeClr val="tx1"/>
                          </a:solidFill>
                          <a:latin typeface="Arial Nova" panose="020B0504020202020204" pitchFamily="34" charset="0"/>
                          <a:ea typeface="+mn-ea"/>
                          <a:cs typeface="+mn-cs"/>
                        </a:rPr>
                        <a:t>Build time-of-day and day-of-week demand profiles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721114049"/>
                  </a:ext>
                </a:extLst>
              </a:tr>
              <a:tr h="0">
                <a:tc>
                  <a:txBody>
                    <a:bodyPr/>
                    <a:lstStyle/>
                    <a:p>
                      <a:r>
                        <a:rPr lang="en-GB" sz="1200" b="0" i="0" dirty="0">
                          <a:latin typeface="Arial Nova" panose="020B0504020202020204" pitchFamily="34" charset="0"/>
                        </a:rPr>
                        <a:t>Place of work SA2 only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dirty="0">
                          <a:latin typeface="Arial Nova" panose="020B0504020202020204" pitchFamily="34" charset="0"/>
                        </a:rPr>
                        <a:t>Actual destination activity for other purposes (retail, education, health)</a:t>
                      </a:r>
                      <a:endParaRPr lang="en-GB" sz="1200" b="0" i="0" kern="1200" dirty="0">
                        <a:solidFill>
                          <a:schemeClr val="tx1"/>
                        </a:solidFill>
                        <a:latin typeface="Arial Nova" panose="020B05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dirty="0">
                          <a:latin typeface="Arial Nova" panose="020B0504020202020204" pitchFamily="34" charset="0"/>
                        </a:rPr>
                        <a:t>Identify popular destinations for public transport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960302244"/>
                  </a:ext>
                </a:extLst>
              </a:tr>
              <a:tr h="0">
                <a:tc>
                  <a:txBody>
                    <a:bodyPr/>
                    <a:lstStyle/>
                    <a:p>
                      <a:r>
                        <a:rPr lang="en-GB" sz="1200" b="0" i="0" dirty="0">
                          <a:latin typeface="Arial Nova" panose="020B0504020202020204" pitchFamily="34" charset="0"/>
                        </a:rPr>
                        <a:t>No spending </a:t>
                      </a:r>
                      <a:r>
                        <a:rPr lang="en-GB" sz="1200" b="0" i="0" dirty="0" err="1">
                          <a:latin typeface="Arial Nova" panose="020B0504020202020204" pitchFamily="34" charset="0"/>
                        </a:rPr>
                        <a:t>behavior</a:t>
                      </a:r>
                      <a:endParaRPr lang="en-GB" sz="1200" b="0" i="0" dirty="0">
                        <a:latin typeface="Arial Nova" panose="020B05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kern="1200" dirty="0">
                          <a:solidFill>
                            <a:schemeClr val="tx1"/>
                          </a:solidFill>
                          <a:latin typeface="Arial Nova" panose="020B0504020202020204" pitchFamily="34" charset="0"/>
                          <a:ea typeface="+mn-ea"/>
                          <a:cs typeface="+mn-cs"/>
                        </a:rPr>
                        <a:t>Spending </a:t>
                      </a:r>
                      <a:r>
                        <a:rPr lang="en-GB" sz="1200" b="0" i="0" kern="1200" dirty="0" err="1">
                          <a:solidFill>
                            <a:schemeClr val="tx1"/>
                          </a:solidFill>
                          <a:latin typeface="Arial Nova" panose="020B0504020202020204" pitchFamily="34" charset="0"/>
                          <a:ea typeface="+mn-ea"/>
                          <a:cs typeface="+mn-cs"/>
                        </a:rPr>
                        <a:t>behavior</a:t>
                      </a:r>
                      <a:r>
                        <a:rPr lang="en-GB" sz="1200" b="0" i="0" kern="1200" dirty="0">
                          <a:solidFill>
                            <a:schemeClr val="tx1"/>
                          </a:solidFill>
                          <a:latin typeface="Arial Nova" panose="020B0504020202020204" pitchFamily="34" charset="0"/>
                          <a:ea typeface="+mn-ea"/>
                          <a:cs typeface="+mn-cs"/>
                        </a:rPr>
                        <a:t> (High toll and parking spend)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pPr marL="0" algn="l" defTabSz="914400" rtl="0" eaLnBrk="1" latinLnBrk="0" hangingPunct="1"/>
                      <a:r>
                        <a:rPr lang="en-GB" sz="1200" b="0" i="0" kern="1200" dirty="0">
                          <a:solidFill>
                            <a:schemeClr val="tx1"/>
                          </a:solidFill>
                          <a:latin typeface="Arial Nova" panose="020B0504020202020204" pitchFamily="34" charset="0"/>
                          <a:ea typeface="+mn-ea"/>
                          <a:cs typeface="+mn-cs"/>
                        </a:rPr>
                        <a:t>Identify areas likely to benefit most from improved public transport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585673419"/>
                  </a:ext>
                </a:extLst>
              </a:tr>
            </a:tbl>
          </a:graphicData>
        </a:graphic>
      </p:graphicFrame>
      <p:graphicFrame>
        <p:nvGraphicFramePr>
          <p:cNvPr id="3" name="Table 2">
            <a:extLst>
              <a:ext uri="{FF2B5EF4-FFF2-40B4-BE49-F238E27FC236}">
                <a16:creationId xmlns:a16="http://schemas.microsoft.com/office/drawing/2014/main" id="{03084EDE-3D60-0E5A-0FFD-5A150F648EC3}"/>
              </a:ext>
            </a:extLst>
          </p:cNvPr>
          <p:cNvGraphicFramePr>
            <a:graphicFrameLocks noGrp="1"/>
          </p:cNvGraphicFramePr>
          <p:nvPr>
            <p:extLst>
              <p:ext uri="{D42A27DB-BD31-4B8C-83A1-F6EECF244321}">
                <p14:modId xmlns:p14="http://schemas.microsoft.com/office/powerpoint/2010/main" val="1073555025"/>
              </p:ext>
            </p:extLst>
          </p:nvPr>
        </p:nvGraphicFramePr>
        <p:xfrm>
          <a:off x="479998" y="4116614"/>
          <a:ext cx="6396258" cy="1920240"/>
        </p:xfrm>
        <a:graphic>
          <a:graphicData uri="http://schemas.openxmlformats.org/drawingml/2006/table">
            <a:tbl>
              <a:tblPr/>
              <a:tblGrid>
                <a:gridCol w="3210866">
                  <a:extLst>
                    <a:ext uri="{9D8B030D-6E8A-4147-A177-3AD203B41FA5}">
                      <a16:colId xmlns:a16="http://schemas.microsoft.com/office/drawing/2014/main" val="878009797"/>
                    </a:ext>
                  </a:extLst>
                </a:gridCol>
                <a:gridCol w="3185392">
                  <a:extLst>
                    <a:ext uri="{9D8B030D-6E8A-4147-A177-3AD203B41FA5}">
                      <a16:colId xmlns:a16="http://schemas.microsoft.com/office/drawing/2014/main" val="1322462571"/>
                    </a:ext>
                  </a:extLst>
                </a:gridCol>
              </a:tblGrid>
              <a:tr h="0">
                <a:tc>
                  <a:txBody>
                    <a:bodyPr/>
                    <a:lstStyle/>
                    <a:p>
                      <a:r>
                        <a:rPr lang="en-GB" sz="1200" b="1" i="0" dirty="0">
                          <a:latin typeface="Arial Nova" panose="020B0504020202020204" pitchFamily="34" charset="0"/>
                        </a:rPr>
                        <a:t>Other datasets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r>
                        <a:rPr lang="en-GB" sz="1200" b="1" i="0" dirty="0">
                          <a:latin typeface="Arial Nova" panose="020B0504020202020204" pitchFamily="34" charset="0"/>
                        </a:rPr>
                        <a:t>Use Case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extLst>
                  <a:ext uri="{0D108BD9-81ED-4DB2-BD59-A6C34878D82A}">
                    <a16:rowId xmlns:a16="http://schemas.microsoft.com/office/drawing/2014/main" val="3743536389"/>
                  </a:ext>
                </a:extLst>
              </a:tr>
              <a:tr h="0">
                <a:tc>
                  <a:txBody>
                    <a:bodyPr/>
                    <a:lstStyle/>
                    <a:p>
                      <a:r>
                        <a:rPr lang="en-GB" sz="1200" b="0" i="0" kern="1200" dirty="0">
                          <a:solidFill>
                            <a:schemeClr val="tx1"/>
                          </a:solidFill>
                          <a:latin typeface="Arial Nova" panose="020B0504020202020204" pitchFamily="34" charset="0"/>
                          <a:ea typeface="+mn-ea"/>
                          <a:cs typeface="+mn-cs"/>
                        </a:rPr>
                        <a:t>Opal Card Tap-on/off Data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kern="1200" dirty="0">
                          <a:solidFill>
                            <a:schemeClr val="tx1"/>
                          </a:solidFill>
                          <a:latin typeface="Arial Nova" panose="020B0504020202020204" pitchFamily="34" charset="0"/>
                          <a:ea typeface="+mn-ea"/>
                          <a:cs typeface="+mn-cs"/>
                        </a:rPr>
                        <a:t>Identify which existing routes are overloaded/underused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721114049"/>
                  </a:ext>
                </a:extLst>
              </a:tr>
              <a:tr h="0">
                <a:tc>
                  <a:txBody>
                    <a:bodyPr/>
                    <a:lstStyle/>
                    <a:p>
                      <a:r>
                        <a:rPr lang="en-GB" sz="1200" b="0" i="0" kern="1200" dirty="0">
                          <a:solidFill>
                            <a:schemeClr val="tx1"/>
                          </a:solidFill>
                          <a:latin typeface="Arial Nova" panose="020B0504020202020204" pitchFamily="34" charset="0"/>
                          <a:ea typeface="+mn-ea"/>
                          <a:cs typeface="+mn-cs"/>
                        </a:rPr>
                        <a:t>Road congestion / speed profiles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kern="1200" dirty="0">
                          <a:solidFill>
                            <a:schemeClr val="tx1"/>
                          </a:solidFill>
                          <a:latin typeface="Arial Nova" panose="020B0504020202020204" pitchFamily="34" charset="0"/>
                          <a:ea typeface="+mn-ea"/>
                          <a:cs typeface="+mn-cs"/>
                        </a:rPr>
                        <a:t>Choose corridors where buses can actually deliver time advantage.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960302244"/>
                  </a:ext>
                </a:extLst>
              </a:tr>
              <a:tr h="0">
                <a:tc>
                  <a:txBody>
                    <a:bodyPr/>
                    <a:lstStyle/>
                    <a:p>
                      <a:r>
                        <a:rPr lang="en-GB" sz="1200" b="0" i="0" kern="1200" dirty="0">
                          <a:solidFill>
                            <a:schemeClr val="tx1"/>
                          </a:solidFill>
                          <a:latin typeface="Arial Nova" panose="020B0504020202020204" pitchFamily="34" charset="0"/>
                          <a:ea typeface="+mn-ea"/>
                          <a:cs typeface="+mn-cs"/>
                        </a:rPr>
                        <a:t>Land use + growth forecasts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kern="1200" dirty="0">
                          <a:solidFill>
                            <a:schemeClr val="tx1"/>
                          </a:solidFill>
                          <a:latin typeface="Arial Nova" panose="020B0504020202020204" pitchFamily="34" charset="0"/>
                          <a:ea typeface="+mn-ea"/>
                          <a:cs typeface="+mn-cs"/>
                        </a:rPr>
                        <a:t>Predictive planning for future growth demand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925643267"/>
                  </a:ext>
                </a:extLst>
              </a:tr>
              <a:tr h="0">
                <a:tc>
                  <a:txBody>
                    <a:bodyPr/>
                    <a:lstStyle/>
                    <a:p>
                      <a:r>
                        <a:rPr lang="en-GB" sz="1200" b="0" i="0" kern="1200" dirty="0">
                          <a:solidFill>
                            <a:schemeClr val="tx1"/>
                          </a:solidFill>
                          <a:latin typeface="Arial Nova" panose="020B0504020202020204" pitchFamily="34" charset="0"/>
                          <a:ea typeface="+mn-ea"/>
                          <a:cs typeface="+mn-cs"/>
                        </a:rPr>
                        <a:t>Major Events &amp; Stadium Calendars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200" b="0" i="0" kern="1200" dirty="0">
                          <a:solidFill>
                            <a:schemeClr val="tx1"/>
                          </a:solidFill>
                          <a:latin typeface="Arial Nova" panose="020B0504020202020204" pitchFamily="34" charset="0"/>
                          <a:ea typeface="+mn-ea"/>
                          <a:cs typeface="+mn-cs"/>
                        </a:rPr>
                        <a:t>Model temporary demand spikes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585673419"/>
                  </a:ext>
                </a:extLst>
              </a:tr>
            </a:tbl>
          </a:graphicData>
        </a:graphic>
      </p:graphicFrame>
      <p:sp>
        <p:nvSpPr>
          <p:cNvPr id="4" name="TextBox 3">
            <a:extLst>
              <a:ext uri="{FF2B5EF4-FFF2-40B4-BE49-F238E27FC236}">
                <a16:creationId xmlns:a16="http://schemas.microsoft.com/office/drawing/2014/main" id="{3769320E-DD67-7D1B-2B2C-0AEA908EEE9E}"/>
              </a:ext>
            </a:extLst>
          </p:cNvPr>
          <p:cNvSpPr txBox="1"/>
          <p:nvPr/>
        </p:nvSpPr>
        <p:spPr>
          <a:xfrm>
            <a:off x="451198" y="1168166"/>
            <a:ext cx="6207990" cy="307777"/>
          </a:xfrm>
          <a:prstGeom prst="rect">
            <a:avLst/>
          </a:prstGeom>
          <a:noFill/>
        </p:spPr>
        <p:txBody>
          <a:bodyPr wrap="square" rtlCol="0">
            <a:spAutoFit/>
          </a:bodyPr>
          <a:lstStyle/>
          <a:p>
            <a:r>
              <a:rPr lang="en-GB" sz="1400" b="1" dirty="0">
                <a:latin typeface="Arial Nova Cond" panose="020B0504020202020204" pitchFamily="34" charset="0"/>
              </a:rPr>
              <a:t>What CommBank </a:t>
            </a:r>
            <a:r>
              <a:rPr lang="en-GB" sz="1400" b="1" dirty="0" err="1">
                <a:latin typeface="Arial Nova Cond" panose="020B0504020202020204" pitchFamily="34" charset="0"/>
              </a:rPr>
              <a:t>iQ</a:t>
            </a:r>
            <a:r>
              <a:rPr lang="en-GB" sz="1400" b="1" dirty="0">
                <a:latin typeface="Arial Nova Cond" panose="020B0504020202020204" pitchFamily="34" charset="0"/>
              </a:rPr>
              <a:t> transaction data can add:</a:t>
            </a:r>
            <a:endParaRPr lang="en-US" sz="1400" b="1" dirty="0">
              <a:latin typeface="Arial Nova Cond" panose="020B0504020202020204" pitchFamily="34" charset="0"/>
            </a:endParaRPr>
          </a:p>
        </p:txBody>
      </p:sp>
      <p:sp>
        <p:nvSpPr>
          <p:cNvPr id="6" name="TextBox 5">
            <a:extLst>
              <a:ext uri="{FF2B5EF4-FFF2-40B4-BE49-F238E27FC236}">
                <a16:creationId xmlns:a16="http://schemas.microsoft.com/office/drawing/2014/main" id="{10DE2455-E7D2-16BA-643A-512CEB3D0EAD}"/>
              </a:ext>
            </a:extLst>
          </p:cNvPr>
          <p:cNvSpPr txBox="1"/>
          <p:nvPr/>
        </p:nvSpPr>
        <p:spPr>
          <a:xfrm>
            <a:off x="479998" y="3589426"/>
            <a:ext cx="6207990" cy="307777"/>
          </a:xfrm>
          <a:prstGeom prst="rect">
            <a:avLst/>
          </a:prstGeom>
          <a:noFill/>
        </p:spPr>
        <p:txBody>
          <a:bodyPr wrap="square" rtlCol="0">
            <a:spAutoFit/>
          </a:bodyPr>
          <a:lstStyle/>
          <a:p>
            <a:r>
              <a:rPr lang="en-GB" sz="1400" b="1" dirty="0">
                <a:latin typeface="Arial Nova Cond" panose="020B0504020202020204" pitchFamily="34" charset="0"/>
              </a:rPr>
              <a:t>What other datasets can add:</a:t>
            </a:r>
            <a:endParaRPr lang="en-US" sz="1400" b="1" dirty="0">
              <a:latin typeface="Arial Nova Cond" panose="020B0504020202020204" pitchFamily="34" charset="0"/>
            </a:endParaRPr>
          </a:p>
        </p:txBody>
      </p:sp>
      <p:pic>
        <p:nvPicPr>
          <p:cNvPr id="9" name="Graphic 8">
            <a:extLst>
              <a:ext uri="{FF2B5EF4-FFF2-40B4-BE49-F238E27FC236}">
                <a16:creationId xmlns:a16="http://schemas.microsoft.com/office/drawing/2014/main" id="{9164AEC8-7D09-9423-2F74-36066F769C4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362" y="6469033"/>
            <a:ext cx="1069132" cy="280453"/>
          </a:xfrm>
          <a:prstGeom prst="rect">
            <a:avLst/>
          </a:prstGeom>
        </p:spPr>
      </p:pic>
    </p:spTree>
    <p:extLst>
      <p:ext uri="{BB962C8B-B14F-4D97-AF65-F5344CB8AC3E}">
        <p14:creationId xmlns:p14="http://schemas.microsoft.com/office/powerpoint/2010/main" val="32217349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E0C72-8003-6844-29B2-F11A3ECFA2B0}"/>
            </a:ext>
          </a:extLst>
        </p:cNvPr>
        <p:cNvGrpSpPr/>
        <p:nvPr/>
      </p:nvGrpSpPr>
      <p:grpSpPr>
        <a:xfrm>
          <a:off x="0" y="0"/>
          <a:ext cx="0" cy="0"/>
          <a:chOff x="0" y="0"/>
          <a:chExt cx="0" cy="0"/>
        </a:xfrm>
      </p:grpSpPr>
      <p:sp>
        <p:nvSpPr>
          <p:cNvPr id="2054" name="Rectangle 6">
            <a:extLst>
              <a:ext uri="{FF2B5EF4-FFF2-40B4-BE49-F238E27FC236}">
                <a16:creationId xmlns:a16="http://schemas.microsoft.com/office/drawing/2014/main" id="{144565CA-CD0F-8BC2-C94B-FFD74FAB6021}"/>
              </a:ext>
            </a:extLst>
          </p:cNvPr>
          <p:cNvSpPr>
            <a:spLocks noChangeArrowheads="1"/>
          </p:cNvSpPr>
          <p:nvPr/>
        </p:nvSpPr>
        <p:spPr bwMode="auto">
          <a:xfrm>
            <a:off x="0" y="5867400"/>
            <a:ext cx="2667000" cy="9906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aphicFrame>
        <p:nvGraphicFramePr>
          <p:cNvPr id="2055" name="Object 7">
            <a:extLst>
              <a:ext uri="{FF2B5EF4-FFF2-40B4-BE49-F238E27FC236}">
                <a16:creationId xmlns:a16="http://schemas.microsoft.com/office/drawing/2014/main" id="{684EFF50-6C2E-76F7-B212-3B1A12FB5302}"/>
              </a:ext>
            </a:extLst>
          </p:cNvPr>
          <p:cNvGraphicFramePr>
            <a:graphicFrameLocks noChangeAspect="1"/>
          </p:cNvGraphicFramePr>
          <p:nvPr/>
        </p:nvGraphicFramePr>
        <p:xfrm>
          <a:off x="7380312" y="6352340"/>
          <a:ext cx="1763688" cy="505660"/>
        </p:xfrm>
        <a:graphic>
          <a:graphicData uri="http://schemas.openxmlformats.org/presentationml/2006/ole">
            <mc:AlternateContent xmlns:mc="http://schemas.openxmlformats.org/markup-compatibility/2006">
              <mc:Choice xmlns:v="urn:schemas-microsoft-com:vml" Requires="v">
                <p:oleObj name="Image" r:id="rId3" imgW="13106400" imgH="3752850" progId="Photoshop.Image.6">
                  <p:embed/>
                </p:oleObj>
              </mc:Choice>
              <mc:Fallback>
                <p:oleObj name="Image" r:id="rId3" imgW="13106400" imgH="3752850" progId="Photoshop.Image.6">
                  <p:embed/>
                  <p:pic>
                    <p:nvPicPr>
                      <p:cNvPr id="2055" name="Object 7">
                        <a:extLst>
                          <a:ext uri="{FF2B5EF4-FFF2-40B4-BE49-F238E27FC236}">
                            <a16:creationId xmlns:a16="http://schemas.microsoft.com/office/drawing/2014/main" id="{CC6A0495-0472-2B33-B7A7-6A7311FF754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0312" y="6352340"/>
                        <a:ext cx="1763688" cy="505660"/>
                      </a:xfrm>
                      <a:prstGeom prst="rect">
                        <a:avLst/>
                      </a:prstGeom>
                      <a:noFill/>
                      <a:ln>
                        <a:noFill/>
                      </a:ln>
                      <a:effectLst/>
                    </p:spPr>
                  </p:pic>
                </p:oleObj>
              </mc:Fallback>
            </mc:AlternateContent>
          </a:graphicData>
        </a:graphic>
      </p:graphicFrame>
      <p:pic>
        <p:nvPicPr>
          <p:cNvPr id="5" name="Picture 4">
            <a:extLst>
              <a:ext uri="{FF2B5EF4-FFF2-40B4-BE49-F238E27FC236}">
                <a16:creationId xmlns:a16="http://schemas.microsoft.com/office/drawing/2014/main" id="{7FF2FDDC-B0E7-89E0-9E36-DC9546F5DCA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6522" y="455476"/>
            <a:ext cx="2565994" cy="216024"/>
          </a:xfrm>
          <a:prstGeom prst="rect">
            <a:avLst/>
          </a:prstGeom>
        </p:spPr>
      </p:pic>
      <p:sp>
        <p:nvSpPr>
          <p:cNvPr id="7" name="Rectangle 6">
            <a:extLst>
              <a:ext uri="{FF2B5EF4-FFF2-40B4-BE49-F238E27FC236}">
                <a16:creationId xmlns:a16="http://schemas.microsoft.com/office/drawing/2014/main" id="{9193EEFE-7726-3359-EA0E-F35FC2A52FA4}"/>
              </a:ext>
            </a:extLst>
          </p:cNvPr>
          <p:cNvSpPr/>
          <p:nvPr/>
        </p:nvSpPr>
        <p:spPr>
          <a:xfrm>
            <a:off x="0" y="836712"/>
            <a:ext cx="9144000" cy="144016"/>
          </a:xfrm>
          <a:prstGeom prst="rect">
            <a:avLst/>
          </a:prstGeom>
          <a:solidFill>
            <a:srgbClr val="FFCB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88B0485-D63D-99F1-FE0B-615389DB023A}"/>
              </a:ext>
            </a:extLst>
          </p:cNvPr>
          <p:cNvSpPr txBox="1"/>
          <p:nvPr/>
        </p:nvSpPr>
        <p:spPr>
          <a:xfrm>
            <a:off x="179512" y="332656"/>
            <a:ext cx="6984776" cy="369332"/>
          </a:xfrm>
          <a:prstGeom prst="rect">
            <a:avLst/>
          </a:prstGeom>
          <a:noFill/>
        </p:spPr>
        <p:txBody>
          <a:bodyPr wrap="square" rtlCol="0">
            <a:spAutoFit/>
          </a:bodyPr>
          <a:lstStyle/>
          <a:p>
            <a:r>
              <a:rPr lang="en-GB" sz="1800" b="1" dirty="0">
                <a:latin typeface="Arial Nova Cond" panose="020B0504020202020204" pitchFamily="34" charset="0"/>
                <a:ea typeface="Apple Symbols" panose="02000000000000000000" pitchFamily="2" charset="-79"/>
              </a:rPr>
              <a:t>Recommendations and Limitations</a:t>
            </a:r>
            <a:endParaRPr lang="en-US" sz="1800" b="1" dirty="0">
              <a:latin typeface="Arial Nova Cond" panose="020B0504020202020204" pitchFamily="34" charset="0"/>
              <a:ea typeface="Apple Symbols" panose="02000000000000000000" pitchFamily="2" charset="-79"/>
            </a:endParaRPr>
          </a:p>
        </p:txBody>
      </p:sp>
      <p:pic>
        <p:nvPicPr>
          <p:cNvPr id="10" name="Graphic 9">
            <a:extLst>
              <a:ext uri="{FF2B5EF4-FFF2-40B4-BE49-F238E27FC236}">
                <a16:creationId xmlns:a16="http://schemas.microsoft.com/office/drawing/2014/main" id="{6427F2DE-078B-0659-3362-DBB7A17C0A5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362" y="6469033"/>
            <a:ext cx="1069132" cy="280453"/>
          </a:xfrm>
          <a:prstGeom prst="rect">
            <a:avLst/>
          </a:prstGeom>
        </p:spPr>
      </p:pic>
      <p:sp>
        <p:nvSpPr>
          <p:cNvPr id="11" name="TextBox 10">
            <a:extLst>
              <a:ext uri="{FF2B5EF4-FFF2-40B4-BE49-F238E27FC236}">
                <a16:creationId xmlns:a16="http://schemas.microsoft.com/office/drawing/2014/main" id="{C98FD2D9-1AE4-ACE9-F920-26E13F205838}"/>
              </a:ext>
            </a:extLst>
          </p:cNvPr>
          <p:cNvSpPr txBox="1"/>
          <p:nvPr/>
        </p:nvSpPr>
        <p:spPr>
          <a:xfrm>
            <a:off x="323528" y="1051859"/>
            <a:ext cx="6207990" cy="307777"/>
          </a:xfrm>
          <a:prstGeom prst="rect">
            <a:avLst/>
          </a:prstGeom>
          <a:noFill/>
        </p:spPr>
        <p:txBody>
          <a:bodyPr wrap="square" rtlCol="0">
            <a:spAutoFit/>
          </a:bodyPr>
          <a:lstStyle/>
          <a:p>
            <a:r>
              <a:rPr lang="en-GB" sz="1400" b="1" dirty="0">
                <a:latin typeface="Arial Nova Cond" panose="020B0504020202020204" pitchFamily="34" charset="0"/>
              </a:rPr>
              <a:t>Recommendations:</a:t>
            </a:r>
            <a:endParaRPr lang="en-US" sz="1400" b="1" dirty="0">
              <a:latin typeface="Arial Nova Cond" panose="020B0504020202020204" pitchFamily="34" charset="0"/>
            </a:endParaRPr>
          </a:p>
        </p:txBody>
      </p:sp>
      <p:sp>
        <p:nvSpPr>
          <p:cNvPr id="12" name="TextBox 11">
            <a:extLst>
              <a:ext uri="{FF2B5EF4-FFF2-40B4-BE49-F238E27FC236}">
                <a16:creationId xmlns:a16="http://schemas.microsoft.com/office/drawing/2014/main" id="{FC918371-CA06-99EF-A48A-BCDF8C3615EB}"/>
              </a:ext>
            </a:extLst>
          </p:cNvPr>
          <p:cNvSpPr txBox="1"/>
          <p:nvPr/>
        </p:nvSpPr>
        <p:spPr>
          <a:xfrm>
            <a:off x="323528" y="4428075"/>
            <a:ext cx="6207990" cy="307777"/>
          </a:xfrm>
          <a:prstGeom prst="rect">
            <a:avLst/>
          </a:prstGeom>
          <a:noFill/>
        </p:spPr>
        <p:txBody>
          <a:bodyPr wrap="square" rtlCol="0">
            <a:spAutoFit/>
          </a:bodyPr>
          <a:lstStyle/>
          <a:p>
            <a:r>
              <a:rPr lang="en-GB" sz="1400" b="1" dirty="0">
                <a:latin typeface="Arial Nova Cond" panose="020B0504020202020204" pitchFamily="34" charset="0"/>
              </a:rPr>
              <a:t>Limitations</a:t>
            </a:r>
            <a:endParaRPr lang="en-US" sz="1400" b="1" dirty="0">
              <a:latin typeface="Arial Nova Cond" panose="020B0504020202020204" pitchFamily="34" charset="0"/>
            </a:endParaRPr>
          </a:p>
        </p:txBody>
      </p:sp>
      <p:graphicFrame>
        <p:nvGraphicFramePr>
          <p:cNvPr id="14" name="Table 13">
            <a:extLst>
              <a:ext uri="{FF2B5EF4-FFF2-40B4-BE49-F238E27FC236}">
                <a16:creationId xmlns:a16="http://schemas.microsoft.com/office/drawing/2014/main" id="{D884AC58-CE2F-6AE5-DF17-DA6F6783B1E1}"/>
              </a:ext>
            </a:extLst>
          </p:cNvPr>
          <p:cNvGraphicFramePr>
            <a:graphicFrameLocks noGrp="1"/>
          </p:cNvGraphicFramePr>
          <p:nvPr>
            <p:extLst>
              <p:ext uri="{D42A27DB-BD31-4B8C-83A1-F6EECF244321}">
                <p14:modId xmlns:p14="http://schemas.microsoft.com/office/powerpoint/2010/main" val="1604999014"/>
              </p:ext>
            </p:extLst>
          </p:nvPr>
        </p:nvGraphicFramePr>
        <p:xfrm>
          <a:off x="323528" y="4918092"/>
          <a:ext cx="7776864" cy="1249680"/>
        </p:xfrm>
        <a:graphic>
          <a:graphicData uri="http://schemas.openxmlformats.org/drawingml/2006/table">
            <a:tbl>
              <a:tblPr/>
              <a:tblGrid>
                <a:gridCol w="2594272">
                  <a:extLst>
                    <a:ext uri="{9D8B030D-6E8A-4147-A177-3AD203B41FA5}">
                      <a16:colId xmlns:a16="http://schemas.microsoft.com/office/drawing/2014/main" val="878009797"/>
                    </a:ext>
                  </a:extLst>
                </a:gridCol>
                <a:gridCol w="2591296">
                  <a:extLst>
                    <a:ext uri="{9D8B030D-6E8A-4147-A177-3AD203B41FA5}">
                      <a16:colId xmlns:a16="http://schemas.microsoft.com/office/drawing/2014/main" val="1322462571"/>
                    </a:ext>
                  </a:extLst>
                </a:gridCol>
                <a:gridCol w="2591296">
                  <a:extLst>
                    <a:ext uri="{9D8B030D-6E8A-4147-A177-3AD203B41FA5}">
                      <a16:colId xmlns:a16="http://schemas.microsoft.com/office/drawing/2014/main" val="4095695095"/>
                    </a:ext>
                  </a:extLst>
                </a:gridCol>
              </a:tblGrid>
              <a:tr h="0">
                <a:tc>
                  <a:txBody>
                    <a:bodyPr/>
                    <a:lstStyle/>
                    <a:p>
                      <a:r>
                        <a:rPr lang="en-GB" sz="1000" b="1" i="0" dirty="0">
                          <a:latin typeface="Arial Nova Cond" panose="020B0504020202020204" pitchFamily="34" charset="0"/>
                        </a:rPr>
                        <a:t>Data Constraints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pPr marL="0" algn="l" defTabSz="914400" rtl="0" eaLnBrk="1" latinLnBrk="0" hangingPunct="1"/>
                      <a:r>
                        <a:rPr lang="en-GB" sz="1000" b="1" i="0" kern="1200" dirty="0">
                          <a:solidFill>
                            <a:schemeClr val="tx1"/>
                          </a:solidFill>
                          <a:latin typeface="Arial Nova Cond" panose="020B0504020202020204" pitchFamily="34" charset="0"/>
                          <a:ea typeface="+mn-ea"/>
                          <a:cs typeface="+mn-cs"/>
                        </a:rPr>
                        <a:t>Human &amp; Behavioural Constraints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pPr marL="0" algn="l" defTabSz="914400" rtl="0" eaLnBrk="1" latinLnBrk="0" hangingPunct="1"/>
                      <a:r>
                        <a:rPr lang="en-GB" sz="1000" b="1" i="0" kern="1200" dirty="0">
                          <a:solidFill>
                            <a:schemeClr val="tx1"/>
                          </a:solidFill>
                          <a:latin typeface="Arial Nova Cond" panose="020B0504020202020204" pitchFamily="34" charset="0"/>
                          <a:ea typeface="+mn-ea"/>
                          <a:cs typeface="+mn-cs"/>
                        </a:rPr>
                        <a:t>Time &amp; Operational Constraints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extLst>
                  <a:ext uri="{0D108BD9-81ED-4DB2-BD59-A6C34878D82A}">
                    <a16:rowId xmlns:a16="http://schemas.microsoft.com/office/drawing/2014/main" val="3743536389"/>
                  </a:ext>
                </a:extLst>
              </a:tr>
              <a:tr h="0">
                <a:tc>
                  <a:txBody>
                    <a:bodyPr/>
                    <a:lstStyle/>
                    <a:p>
                      <a:pPr marL="171450" indent="-171450">
                        <a:buFont typeface="Arial" panose="020B0604020202020204" pitchFamily="34" charset="0"/>
                        <a:buChar char="•"/>
                      </a:pPr>
                      <a:r>
                        <a:rPr lang="en-GB" sz="1000" b="0" i="0" kern="1200" dirty="0">
                          <a:solidFill>
                            <a:schemeClr val="tx1"/>
                          </a:solidFill>
                          <a:latin typeface="Arial Nova" panose="020B0504020202020204" pitchFamily="34" charset="0"/>
                          <a:ea typeface="+mn-ea"/>
                          <a:cs typeface="+mn-cs"/>
                        </a:rPr>
                        <a:t>Static Snapshot: does not capture seasonal variations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pPr marL="171450" indent="-171450">
                        <a:buFont typeface="Arial" panose="020B0604020202020204" pitchFamily="34" charset="0"/>
                        <a:buChar char="•"/>
                      </a:pPr>
                      <a:r>
                        <a:rPr lang="en-GB" sz="1000" b="0" i="0" kern="1200" dirty="0">
                          <a:solidFill>
                            <a:schemeClr val="tx1"/>
                          </a:solidFill>
                          <a:latin typeface="Arial Nova" panose="020B0504020202020204" pitchFamily="34" charset="0"/>
                          <a:ea typeface="+mn-ea"/>
                          <a:cs typeface="+mn-cs"/>
                        </a:rPr>
                        <a:t>Inertia and Habit: Even if a new bus route is data-justified, human </a:t>
                      </a:r>
                      <a:r>
                        <a:rPr lang="en-GB" sz="1000" b="0" i="0" kern="1200" dirty="0" err="1">
                          <a:solidFill>
                            <a:schemeClr val="tx1"/>
                          </a:solidFill>
                          <a:latin typeface="Arial Nova" panose="020B0504020202020204" pitchFamily="34" charset="0"/>
                          <a:ea typeface="+mn-ea"/>
                          <a:cs typeface="+mn-cs"/>
                        </a:rPr>
                        <a:t>behavior</a:t>
                      </a:r>
                      <a:r>
                        <a:rPr lang="en-GB" sz="1000" b="0" i="0" kern="1200" dirty="0">
                          <a:solidFill>
                            <a:schemeClr val="tx1"/>
                          </a:solidFill>
                          <a:latin typeface="Arial Nova" panose="020B0504020202020204" pitchFamily="34" charset="0"/>
                          <a:ea typeface="+mn-ea"/>
                          <a:cs typeface="+mn-cs"/>
                        </a:rPr>
                        <a:t> is slow to change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pPr marL="171450" indent="-171450" algn="l" defTabSz="914400" rtl="0" eaLnBrk="1" latinLnBrk="0" hangingPunct="1">
                        <a:buFont typeface="Arial" panose="020B0604020202020204" pitchFamily="34" charset="0"/>
                        <a:buChar char="•"/>
                      </a:pPr>
                      <a:r>
                        <a:rPr lang="en-GB" sz="1000" b="0" i="0" kern="1200" dirty="0">
                          <a:solidFill>
                            <a:schemeClr val="tx1"/>
                          </a:solidFill>
                          <a:latin typeface="Arial Nova" panose="020B0504020202020204" pitchFamily="34" charset="0"/>
                          <a:ea typeface="+mn-ea"/>
                          <a:cs typeface="+mn-cs"/>
                        </a:rPr>
                        <a:t>Infrastructure Lead Times: the procurement of new buses, driver recruitment, and physical stop installations can take months or years, during which time commuter patterns may have shifted again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721114049"/>
                  </a:ext>
                </a:extLst>
              </a:tr>
            </a:tbl>
          </a:graphicData>
        </a:graphic>
      </p:graphicFrame>
      <p:graphicFrame>
        <p:nvGraphicFramePr>
          <p:cNvPr id="20" name="Table 19">
            <a:extLst>
              <a:ext uri="{FF2B5EF4-FFF2-40B4-BE49-F238E27FC236}">
                <a16:creationId xmlns:a16="http://schemas.microsoft.com/office/drawing/2014/main" id="{07D34EC1-20A1-BFF9-3CE2-0FD9EB72D3CD}"/>
              </a:ext>
            </a:extLst>
          </p:cNvPr>
          <p:cNvGraphicFramePr>
            <a:graphicFrameLocks noGrp="1"/>
          </p:cNvGraphicFramePr>
          <p:nvPr>
            <p:extLst>
              <p:ext uri="{D42A27DB-BD31-4B8C-83A1-F6EECF244321}">
                <p14:modId xmlns:p14="http://schemas.microsoft.com/office/powerpoint/2010/main" val="1959610220"/>
              </p:ext>
            </p:extLst>
          </p:nvPr>
        </p:nvGraphicFramePr>
        <p:xfrm>
          <a:off x="323528" y="1446267"/>
          <a:ext cx="7776864" cy="2804160"/>
        </p:xfrm>
        <a:graphic>
          <a:graphicData uri="http://schemas.openxmlformats.org/drawingml/2006/table">
            <a:tbl>
              <a:tblPr/>
              <a:tblGrid>
                <a:gridCol w="2594272">
                  <a:extLst>
                    <a:ext uri="{9D8B030D-6E8A-4147-A177-3AD203B41FA5}">
                      <a16:colId xmlns:a16="http://schemas.microsoft.com/office/drawing/2014/main" val="878009797"/>
                    </a:ext>
                  </a:extLst>
                </a:gridCol>
                <a:gridCol w="2591296">
                  <a:extLst>
                    <a:ext uri="{9D8B030D-6E8A-4147-A177-3AD203B41FA5}">
                      <a16:colId xmlns:a16="http://schemas.microsoft.com/office/drawing/2014/main" val="1322462571"/>
                    </a:ext>
                  </a:extLst>
                </a:gridCol>
                <a:gridCol w="2591296">
                  <a:extLst>
                    <a:ext uri="{9D8B030D-6E8A-4147-A177-3AD203B41FA5}">
                      <a16:colId xmlns:a16="http://schemas.microsoft.com/office/drawing/2014/main" val="4095695095"/>
                    </a:ext>
                  </a:extLst>
                </a:gridCol>
              </a:tblGrid>
              <a:tr h="0">
                <a:tc>
                  <a:txBody>
                    <a:bodyPr/>
                    <a:lstStyle/>
                    <a:p>
                      <a:r>
                        <a:rPr lang="en-GB" sz="1000" b="1" i="0" dirty="0">
                          <a:latin typeface="Arial Nova Cond" panose="020B0504020202020204" pitchFamily="34" charset="0"/>
                        </a:rPr>
                        <a:t>Phase 1: Validation &amp; Precision (Immediate)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pPr marL="0" algn="l" defTabSz="914400" rtl="0" eaLnBrk="1" latinLnBrk="0" hangingPunct="1"/>
                      <a:r>
                        <a:rPr lang="en-GB" sz="1000" b="1" i="0" kern="1200" dirty="0">
                          <a:solidFill>
                            <a:schemeClr val="tx1"/>
                          </a:solidFill>
                          <a:latin typeface="Arial Nova Cond" panose="020B0504020202020204" pitchFamily="34" charset="0"/>
                          <a:ea typeface="+mn-ea"/>
                          <a:cs typeface="+mn-cs"/>
                        </a:rPr>
                        <a:t>Phase 2: Targeted Pilot Programs (Short-Term)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tc>
                  <a:txBody>
                    <a:bodyPr/>
                    <a:lstStyle/>
                    <a:p>
                      <a:pPr marL="0" algn="l" defTabSz="914400" rtl="0" eaLnBrk="1" latinLnBrk="0" hangingPunct="1"/>
                      <a:r>
                        <a:rPr lang="en-GB" sz="1000" b="1" i="0" kern="1200" dirty="0">
                          <a:solidFill>
                            <a:schemeClr val="tx1"/>
                          </a:solidFill>
                          <a:latin typeface="Arial Nova Cond" panose="020B0504020202020204" pitchFamily="34" charset="0"/>
                          <a:ea typeface="+mn-ea"/>
                          <a:cs typeface="+mn-cs"/>
                        </a:rPr>
                        <a:t>Phase 3: Strategic Network Evolution (Medium-Term)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310"/>
                    </a:solidFill>
                  </a:tcPr>
                </a:tc>
                <a:extLst>
                  <a:ext uri="{0D108BD9-81ED-4DB2-BD59-A6C34878D82A}">
                    <a16:rowId xmlns:a16="http://schemas.microsoft.com/office/drawing/2014/main" val="3743536389"/>
                  </a:ext>
                </a:extLst>
              </a:tr>
              <a:tr h="0">
                <a:tc>
                  <a:txBody>
                    <a:bodyPr/>
                    <a:lstStyle/>
                    <a:p>
                      <a:r>
                        <a:rPr lang="en-GB" sz="1000" b="0" i="0" kern="1200" dirty="0">
                          <a:solidFill>
                            <a:schemeClr val="tx1"/>
                          </a:solidFill>
                          <a:effectLst/>
                          <a:latin typeface="Arial Nova" panose="020B0504020202020204" pitchFamily="34" charset="0"/>
                          <a:ea typeface="+mn-ea"/>
                          <a:cs typeface="+mn-cs"/>
                        </a:rPr>
                        <a:t>Mode Substitution Analysis</a:t>
                      </a:r>
                      <a:r>
                        <a:rPr lang="en-GB" sz="1000" b="0" i="0" dirty="0">
                          <a:latin typeface="Arial Nova" panose="020B0504020202020204" pitchFamily="34" charset="0"/>
                        </a:rPr>
                        <a:t>: Use toll and fuel transaction data to validate "willingness to switch"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000" b="0" i="0" kern="1200" dirty="0">
                          <a:solidFill>
                            <a:schemeClr val="tx1"/>
                          </a:solidFill>
                          <a:latin typeface="Arial Nova" panose="020B0504020202020204" pitchFamily="34" charset="0"/>
                          <a:ea typeface="+mn-ea"/>
                          <a:cs typeface="+mn-cs"/>
                        </a:rPr>
                        <a:t>High-Potential Express Trials: Launch 3-month express bus pilots with some incentives for high-growth corridors to capture car-commuter volumes.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pPr marL="0" algn="l" defTabSz="914400" rtl="0" eaLnBrk="1" latinLnBrk="0" hangingPunct="1"/>
                      <a:r>
                        <a:rPr lang="en-GB" sz="1000" b="0" i="0" kern="1200" dirty="0">
                          <a:solidFill>
                            <a:schemeClr val="tx1"/>
                          </a:solidFill>
                          <a:latin typeface="Arial Nova" panose="020B0504020202020204" pitchFamily="34" charset="0"/>
                          <a:ea typeface="+mn-ea"/>
                          <a:cs typeface="+mn-cs"/>
                        </a:rPr>
                        <a:t>Holistic Data Integration: Merge Opal tap-on data with </a:t>
                      </a:r>
                      <a:r>
                        <a:rPr lang="en-GB" sz="1000" b="0" i="0" kern="1200" dirty="0" err="1">
                          <a:solidFill>
                            <a:schemeClr val="tx1"/>
                          </a:solidFill>
                          <a:latin typeface="Arial Nova" panose="020B0504020202020204" pitchFamily="34" charset="0"/>
                          <a:ea typeface="+mn-ea"/>
                          <a:cs typeface="+mn-cs"/>
                        </a:rPr>
                        <a:t>CBAiQ</a:t>
                      </a:r>
                      <a:r>
                        <a:rPr lang="en-GB" sz="1000" b="0" i="0" kern="1200" dirty="0">
                          <a:solidFill>
                            <a:schemeClr val="tx1"/>
                          </a:solidFill>
                          <a:latin typeface="Arial Nova" panose="020B0504020202020204" pitchFamily="34" charset="0"/>
                          <a:ea typeface="+mn-ea"/>
                          <a:cs typeface="+mn-cs"/>
                        </a:rPr>
                        <a:t> merchant spending to identify "Network Leakage”, where people are active but public transport is not their chosen mode.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721114049"/>
                  </a:ext>
                </a:extLst>
              </a:tr>
              <a:tr h="0">
                <a:tc>
                  <a:txBody>
                    <a:bodyPr/>
                    <a:lstStyle/>
                    <a:p>
                      <a:r>
                        <a:rPr lang="en-GB" sz="1000" b="0" i="0" kern="1200" dirty="0">
                          <a:solidFill>
                            <a:schemeClr val="tx1"/>
                          </a:solidFill>
                          <a:latin typeface="Arial Nova" panose="020B0504020202020204" pitchFamily="34" charset="0"/>
                          <a:ea typeface="+mn-ea"/>
                          <a:cs typeface="+mn-cs"/>
                        </a:rPr>
                        <a:t>Temporal Demand Mapping: Use CBA transaction timestamps to identify the exact hours of the "new peak" in high-WFH for optimized scheduling.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000" b="0" i="0" kern="1200" dirty="0">
                          <a:solidFill>
                            <a:schemeClr val="tx1"/>
                          </a:solidFill>
                          <a:latin typeface="Arial Nova" panose="020B0504020202020204" pitchFamily="34" charset="0"/>
                          <a:ea typeface="+mn-ea"/>
                          <a:cs typeface="+mn-cs"/>
                        </a:rPr>
                        <a:t>Micro-Mobility Feeders: Trial local shuttles in "Professional Hubs"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r>
                        <a:rPr lang="en-GB" sz="1000" b="0" i="0" kern="1200" dirty="0">
                          <a:solidFill>
                            <a:schemeClr val="tx1"/>
                          </a:solidFill>
                          <a:latin typeface="Arial Nova" panose="020B0504020202020204" pitchFamily="34" charset="0"/>
                          <a:ea typeface="+mn-ea"/>
                          <a:cs typeface="+mn-cs"/>
                        </a:rPr>
                        <a:t>Predictive Infrastructure: Use building approvals and </a:t>
                      </a:r>
                      <a:r>
                        <a:rPr lang="en-GB" sz="1000" b="0" i="0" kern="1200" dirty="0" err="1">
                          <a:solidFill>
                            <a:schemeClr val="tx1"/>
                          </a:solidFill>
                          <a:latin typeface="Arial Nova" panose="020B0504020202020204" pitchFamily="34" charset="0"/>
                          <a:ea typeface="+mn-ea"/>
                          <a:cs typeface="+mn-cs"/>
                        </a:rPr>
                        <a:t>CBAiQ</a:t>
                      </a:r>
                      <a:r>
                        <a:rPr lang="en-GB" sz="1000" b="0" i="0" kern="1200" dirty="0">
                          <a:solidFill>
                            <a:schemeClr val="tx1"/>
                          </a:solidFill>
                          <a:latin typeface="Arial Nova" panose="020B0504020202020204" pitchFamily="34" charset="0"/>
                          <a:ea typeface="+mn-ea"/>
                          <a:cs typeface="+mn-cs"/>
                        </a:rPr>
                        <a:t> residential growth data to pre-emptively design routes for emerging South West development corridors.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960302244"/>
                  </a:ext>
                </a:extLst>
              </a:tr>
              <a:tr h="0">
                <a:tc>
                  <a:txBody>
                    <a:bodyPr/>
                    <a:lstStyle/>
                    <a:p>
                      <a:r>
                        <a:rPr lang="en-GB" sz="1000" b="0" i="0" kern="1200" dirty="0">
                          <a:solidFill>
                            <a:schemeClr val="tx1"/>
                          </a:solidFill>
                          <a:latin typeface="Arial Nova" panose="020B0504020202020204" pitchFamily="34" charset="0"/>
                          <a:ea typeface="+mn-ea"/>
                          <a:cs typeface="+mn-cs"/>
                        </a:rPr>
                        <a:t>Persona Segmentation: Apply de-identified spending patterns to differentiate service needs between "Hybrid Professionals" and "Essential Service Workers."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endParaRPr lang="en-GB" sz="1000" b="0" i="0" kern="1200" dirty="0">
                        <a:solidFill>
                          <a:schemeClr val="tx1"/>
                        </a:solidFill>
                        <a:latin typeface="Arial Nova" panose="020B05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tc>
                  <a:txBody>
                    <a:bodyPr/>
                    <a:lstStyle/>
                    <a:p>
                      <a:endParaRPr lang="en-GB" sz="1000" b="0" i="0" kern="1200" dirty="0">
                        <a:solidFill>
                          <a:schemeClr val="tx1"/>
                        </a:solidFill>
                        <a:latin typeface="Arial Nova" panose="020B05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E993"/>
                    </a:solidFill>
                  </a:tcPr>
                </a:tc>
                <a:extLst>
                  <a:ext uri="{0D108BD9-81ED-4DB2-BD59-A6C34878D82A}">
                    <a16:rowId xmlns:a16="http://schemas.microsoft.com/office/drawing/2014/main" val="1925643267"/>
                  </a:ext>
                </a:extLst>
              </a:tr>
            </a:tbl>
          </a:graphicData>
        </a:graphic>
      </p:graphicFrame>
    </p:spTree>
    <p:extLst>
      <p:ext uri="{BB962C8B-B14F-4D97-AF65-F5344CB8AC3E}">
        <p14:creationId xmlns:p14="http://schemas.microsoft.com/office/powerpoint/2010/main" val="1938773908"/>
      </p:ext>
    </p:extLst>
  </p:cSld>
  <p:clrMapOvr>
    <a:masterClrMapping/>
  </p:clrMapOvr>
</p:sld>
</file>

<file path=ppt/theme/theme1.xml><?xml version="1.0" encoding="utf-8"?>
<a:theme xmlns:a="http://schemas.openxmlformats.org/drawingml/2006/main" name="which new bank">
  <a:themeElements>
    <a:clrScheme name="which new bank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which new bank">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raClrScheme>
      <a:clrScheme name="which new bank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which new bank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which new bank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which new bank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which new bank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which new bank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which new bank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C:\Documents and Settings\scunliffe\Application Data\Microsoft\Templates\which new bank.pot</Template>
  <TotalTime>6041</TotalTime>
  <Words>3086</Words>
  <Application>Microsoft Macintosh PowerPoint</Application>
  <PresentationFormat>On-screen Show (4:3)</PresentationFormat>
  <Paragraphs>117</Paragraphs>
  <Slides>6</Slides>
  <Notes>6</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3" baseType="lpstr">
      <vt:lpstr>Times New Roman</vt:lpstr>
      <vt:lpstr>Helvetica</vt:lpstr>
      <vt:lpstr>Times</vt:lpstr>
      <vt:lpstr>Arial Black</vt:lpstr>
      <vt:lpstr>Arial</vt:lpstr>
      <vt:lpstr>which new bank</vt:lpstr>
      <vt:lpstr>Image</vt:lpstr>
      <vt:lpstr>PowerPoint Presentation</vt:lpstr>
      <vt:lpstr>PowerPoint Presentation</vt:lpstr>
      <vt:lpstr>PowerPoint Presentation</vt:lpstr>
      <vt:lpstr>PowerPoint Presentation</vt:lpstr>
      <vt:lpstr>PowerPoint Presentation</vt:lpstr>
      <vt:lpstr>PowerPoint Presentation</vt:lpstr>
    </vt:vector>
  </TitlesOfParts>
  <Company>CCCLX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scunliffe</dc:creator>
  <cp:lastModifiedBy>Quoc Tran</cp:lastModifiedBy>
  <cp:revision>100</cp:revision>
  <cp:lastPrinted>2003-09-19T05:58:45Z</cp:lastPrinted>
  <dcterms:created xsi:type="dcterms:W3CDTF">2003-09-18T03:56:04Z</dcterms:created>
  <dcterms:modified xsi:type="dcterms:W3CDTF">2026-01-19T03:49:30Z</dcterms:modified>
</cp:coreProperties>
</file>